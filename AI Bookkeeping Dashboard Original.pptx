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68" r:id="rId4"/>
    <p:sldId id="258" r:id="rId5"/>
    <p:sldId id="259" r:id="rId6"/>
    <p:sldId id="260" r:id="rId7"/>
    <p:sldId id="261" r:id="rId8"/>
    <p:sldId id="262" r:id="rId9"/>
    <p:sldId id="263" r:id="rId10"/>
    <p:sldId id="264" r:id="rId11"/>
    <p:sldId id="265" r:id="rId12"/>
    <p:sldId id="266" r:id="rId13"/>
  </p:sldIdLst>
  <p:sldSz cx="18288000" cy="10287000"/>
  <p:notesSz cx="6858000" cy="9144000"/>
  <p:embeddedFontLst>
    <p:embeddedFont>
      <p:font typeface="Poppins" panose="00000500000000000000" pitchFamily="2" charset="0"/>
      <p:regular r:id="rId15"/>
    </p:embeddedFont>
    <p:embeddedFont>
      <p:font typeface="Poppins Bold" panose="00000800000000000000" charset="0"/>
      <p:regular r:id="rId16"/>
    </p:embeddedFont>
    <p:embeddedFont>
      <p:font typeface="Poppins Italics" panose="020B0604020202020204" charset="0"/>
      <p:regular r:id="rId17"/>
    </p:embeddedFont>
    <p:embeddedFont>
      <p:font typeface="Poppins Light" panose="00000400000000000000" pitchFamily="2" charset="0"/>
      <p:regular r:id="rId18"/>
    </p:embeddedFont>
    <p:embeddedFont>
      <p:font typeface="Poppins Medium" panose="00000600000000000000" pitchFamily="2" charset="0"/>
      <p:regular r:id="rId19"/>
    </p:embeddedFont>
    <p:embeddedFont>
      <p:font typeface="Poppins Semi-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5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D42233-6980-401B-B4AF-FF29A0590D14}" v="7" dt="2026-05-30T11:54:28.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6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anasai Duvvuri" userId="fc587905dc2c436f" providerId="LiveId" clId="{7B88DB70-3C13-4E3B-8DD5-4EB4585E2C23}"/>
    <pc:docChg chg="undo redo custSel addSld delSld modSld">
      <pc:chgData name="Pavanasai Duvvuri" userId="fc587905dc2c436f" providerId="LiveId" clId="{7B88DB70-3C13-4E3B-8DD5-4EB4585E2C23}" dt="2026-05-30T11:55:12.708" v="131" actId="20577"/>
      <pc:docMkLst>
        <pc:docMk/>
      </pc:docMkLst>
      <pc:sldChg chg="modSp mod">
        <pc:chgData name="Pavanasai Duvvuri" userId="fc587905dc2c436f" providerId="LiveId" clId="{7B88DB70-3C13-4E3B-8DD5-4EB4585E2C23}" dt="2026-05-30T11:43:23.133" v="15" actId="2711"/>
        <pc:sldMkLst>
          <pc:docMk/>
          <pc:sldMk cId="0" sldId="257"/>
        </pc:sldMkLst>
        <pc:spChg chg="mod">
          <ac:chgData name="Pavanasai Duvvuri" userId="fc587905dc2c436f" providerId="LiveId" clId="{7B88DB70-3C13-4E3B-8DD5-4EB4585E2C23}" dt="2026-05-30T11:43:23.133" v="15" actId="2711"/>
          <ac:spMkLst>
            <pc:docMk/>
            <pc:sldMk cId="0" sldId="257"/>
            <ac:spMk id="8" creationId="{00000000-0000-0000-0000-000000000000}"/>
          </ac:spMkLst>
        </pc:spChg>
      </pc:sldChg>
      <pc:sldChg chg="modSp mod">
        <pc:chgData name="Pavanasai Duvvuri" userId="fc587905dc2c436f" providerId="LiveId" clId="{7B88DB70-3C13-4E3B-8DD5-4EB4585E2C23}" dt="2026-05-30T11:44:51.184" v="44" actId="20577"/>
        <pc:sldMkLst>
          <pc:docMk/>
          <pc:sldMk cId="0" sldId="258"/>
        </pc:sldMkLst>
        <pc:spChg chg="mod">
          <ac:chgData name="Pavanasai Duvvuri" userId="fc587905dc2c436f" providerId="LiveId" clId="{7B88DB70-3C13-4E3B-8DD5-4EB4585E2C23}" dt="2026-05-30T11:44:51.184" v="44" actId="20577"/>
          <ac:spMkLst>
            <pc:docMk/>
            <pc:sldMk cId="0" sldId="258"/>
            <ac:spMk id="12" creationId="{00000000-0000-0000-0000-000000000000}"/>
          </ac:spMkLst>
        </pc:spChg>
      </pc:sldChg>
      <pc:sldChg chg="modSp mod">
        <pc:chgData name="Pavanasai Duvvuri" userId="fc587905dc2c436f" providerId="LiveId" clId="{7B88DB70-3C13-4E3B-8DD5-4EB4585E2C23}" dt="2026-05-30T11:47:43.120" v="78" actId="20577"/>
        <pc:sldMkLst>
          <pc:docMk/>
          <pc:sldMk cId="0" sldId="264"/>
        </pc:sldMkLst>
        <pc:spChg chg="mod">
          <ac:chgData name="Pavanasai Duvvuri" userId="fc587905dc2c436f" providerId="LiveId" clId="{7B88DB70-3C13-4E3B-8DD5-4EB4585E2C23}" dt="2026-05-30T11:47:43.120" v="78" actId="20577"/>
          <ac:spMkLst>
            <pc:docMk/>
            <pc:sldMk cId="0" sldId="264"/>
            <ac:spMk id="10" creationId="{00000000-0000-0000-0000-000000000000}"/>
          </ac:spMkLst>
        </pc:spChg>
      </pc:sldChg>
      <pc:sldChg chg="new del">
        <pc:chgData name="Pavanasai Duvvuri" userId="fc587905dc2c436f" providerId="LiveId" clId="{7B88DB70-3C13-4E3B-8DD5-4EB4585E2C23}" dt="2026-05-30T11:48:14.871" v="81" actId="47"/>
        <pc:sldMkLst>
          <pc:docMk/>
          <pc:sldMk cId="1921483678" sldId="267"/>
        </pc:sldMkLst>
      </pc:sldChg>
      <pc:sldChg chg="delSp modSp add mod">
        <pc:chgData name="Pavanasai Duvvuri" userId="fc587905dc2c436f" providerId="LiveId" clId="{7B88DB70-3C13-4E3B-8DD5-4EB4585E2C23}" dt="2026-05-30T11:55:12.708" v="131" actId="20577"/>
        <pc:sldMkLst>
          <pc:docMk/>
          <pc:sldMk cId="3353944766" sldId="268"/>
        </pc:sldMkLst>
        <pc:spChg chg="del">
          <ac:chgData name="Pavanasai Duvvuri" userId="fc587905dc2c436f" providerId="LiveId" clId="{7B88DB70-3C13-4E3B-8DD5-4EB4585E2C23}" dt="2026-05-30T11:53:15.576" v="121" actId="478"/>
          <ac:spMkLst>
            <pc:docMk/>
            <pc:sldMk cId="3353944766" sldId="268"/>
            <ac:spMk id="4" creationId="{C276DBD2-1012-2817-3E13-21E6830636AA}"/>
          </ac:spMkLst>
        </pc:spChg>
        <pc:spChg chg="del">
          <ac:chgData name="Pavanasai Duvvuri" userId="fc587905dc2c436f" providerId="LiveId" clId="{7B88DB70-3C13-4E3B-8DD5-4EB4585E2C23}" dt="2026-05-30T11:53:15.576" v="121" actId="478"/>
          <ac:spMkLst>
            <pc:docMk/>
            <pc:sldMk cId="3353944766" sldId="268"/>
            <ac:spMk id="5" creationId="{4F99EDFA-506C-A0F2-915F-9FE2AF8FD2A5}"/>
          </ac:spMkLst>
        </pc:spChg>
        <pc:spChg chg="del">
          <ac:chgData name="Pavanasai Duvvuri" userId="fc587905dc2c436f" providerId="LiveId" clId="{7B88DB70-3C13-4E3B-8DD5-4EB4585E2C23}" dt="2026-05-30T11:53:15.576" v="121" actId="478"/>
          <ac:spMkLst>
            <pc:docMk/>
            <pc:sldMk cId="3353944766" sldId="268"/>
            <ac:spMk id="6" creationId="{E5C95362-4266-7823-4648-50143528BE8D}"/>
          </ac:spMkLst>
        </pc:spChg>
        <pc:spChg chg="mod">
          <ac:chgData name="Pavanasai Duvvuri" userId="fc587905dc2c436f" providerId="LiveId" clId="{7B88DB70-3C13-4E3B-8DD5-4EB4585E2C23}" dt="2026-05-30T11:55:12.708" v="131" actId="20577"/>
          <ac:spMkLst>
            <pc:docMk/>
            <pc:sldMk cId="3353944766" sldId="268"/>
            <ac:spMk id="7" creationId="{D33AEF59-9AA4-3291-5130-7A9CA0E0A5BA}"/>
          </ac:spMkLst>
        </pc:spChg>
        <pc:spChg chg="del mod">
          <ac:chgData name="Pavanasai Duvvuri" userId="fc587905dc2c436f" providerId="LiveId" clId="{7B88DB70-3C13-4E3B-8DD5-4EB4585E2C23}" dt="2026-05-30T11:53:07.027" v="118"/>
          <ac:spMkLst>
            <pc:docMk/>
            <pc:sldMk cId="3353944766" sldId="268"/>
            <ac:spMk id="8" creationId="{DB09F866-053E-75AC-2746-A125EFC4E18A}"/>
          </ac:spMkLst>
        </pc:spChg>
        <pc:spChg chg="del">
          <ac:chgData name="Pavanasai Duvvuri" userId="fc587905dc2c436f" providerId="LiveId" clId="{7B88DB70-3C13-4E3B-8DD5-4EB4585E2C23}" dt="2026-05-30T11:53:12.282" v="120" actId="478"/>
          <ac:spMkLst>
            <pc:docMk/>
            <pc:sldMk cId="3353944766" sldId="268"/>
            <ac:spMk id="9" creationId="{C133C2C5-D512-FB50-C387-1B5EDDDA969E}"/>
          </ac:spMkLst>
        </pc:spChg>
        <pc:spChg chg="del">
          <ac:chgData name="Pavanasai Duvvuri" userId="fc587905dc2c436f" providerId="LiveId" clId="{7B88DB70-3C13-4E3B-8DD5-4EB4585E2C23}" dt="2026-05-30T11:53:12.282" v="120" actId="478"/>
          <ac:spMkLst>
            <pc:docMk/>
            <pc:sldMk cId="3353944766" sldId="268"/>
            <ac:spMk id="10" creationId="{B88E6AE4-FD8C-633B-1BE8-4D2E75D433FD}"/>
          </ac:spMkLst>
        </pc:spChg>
        <pc:spChg chg="del">
          <ac:chgData name="Pavanasai Duvvuri" userId="fc587905dc2c436f" providerId="LiveId" clId="{7B88DB70-3C13-4E3B-8DD5-4EB4585E2C23}" dt="2026-05-30T11:53:12.282" v="120" actId="478"/>
          <ac:spMkLst>
            <pc:docMk/>
            <pc:sldMk cId="3353944766" sldId="268"/>
            <ac:spMk id="11" creationId="{4DDBCAED-317C-84FA-2869-003BCE7DB624}"/>
          </ac:spMkLst>
        </pc:spChg>
        <pc:spChg chg="del">
          <ac:chgData name="Pavanasai Duvvuri" userId="fc587905dc2c436f" providerId="LiveId" clId="{7B88DB70-3C13-4E3B-8DD5-4EB4585E2C23}" dt="2026-05-30T11:53:12.282" v="120" actId="478"/>
          <ac:spMkLst>
            <pc:docMk/>
            <pc:sldMk cId="3353944766" sldId="268"/>
            <ac:spMk id="12" creationId="{35F75F94-373F-0B7C-3727-3577606A91C5}"/>
          </ac:spMkLst>
        </pc:spChg>
        <pc:spChg chg="del">
          <ac:chgData name="Pavanasai Duvvuri" userId="fc587905dc2c436f" providerId="LiveId" clId="{7B88DB70-3C13-4E3B-8DD5-4EB4585E2C23}" dt="2026-05-30T11:53:12.282" v="120" actId="478"/>
          <ac:spMkLst>
            <pc:docMk/>
            <pc:sldMk cId="3353944766" sldId="268"/>
            <ac:spMk id="13" creationId="{5B46D002-540E-0850-FB44-C27F09058F1A}"/>
          </ac:spMkLst>
        </pc:spChg>
        <pc:spChg chg="del">
          <ac:chgData name="Pavanasai Duvvuri" userId="fc587905dc2c436f" providerId="LiveId" clId="{7B88DB70-3C13-4E3B-8DD5-4EB4585E2C23}" dt="2026-05-30T11:53:12.282" v="120" actId="478"/>
          <ac:spMkLst>
            <pc:docMk/>
            <pc:sldMk cId="3353944766" sldId="268"/>
            <ac:spMk id="14" creationId="{10DF42B3-24BD-7398-1376-F195BC1BC3C3}"/>
          </ac:spMkLst>
        </pc:spChg>
        <pc:spChg chg="del mod">
          <ac:chgData name="Pavanasai Duvvuri" userId="fc587905dc2c436f" providerId="LiveId" clId="{7B88DB70-3C13-4E3B-8DD5-4EB4585E2C23}" dt="2026-05-30T11:53:07.025" v="116"/>
          <ac:spMkLst>
            <pc:docMk/>
            <pc:sldMk cId="3353944766" sldId="268"/>
            <ac:spMk id="17" creationId="{20E69AC7-FCE7-68AA-CDF9-358B17D3389D}"/>
          </ac:spMkLst>
        </pc:spChg>
        <pc:grpChg chg="del">
          <ac:chgData name="Pavanasai Duvvuri" userId="fc587905dc2c436f" providerId="LiveId" clId="{7B88DB70-3C13-4E3B-8DD5-4EB4585E2C23}" dt="2026-05-30T11:53:08.505" v="119" actId="478"/>
          <ac:grpSpMkLst>
            <pc:docMk/>
            <pc:sldMk cId="3353944766" sldId="268"/>
            <ac:grpSpMk id="2" creationId="{AF76D0F5-CC31-7713-0EAF-728F9DDD7A73}"/>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493A7-4416-482C-919D-F20EB9B0A664}" type="datetimeFigureOut">
              <a:rPr lang="en-IN" smtClean="0"/>
              <a:t>30-05-2026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C93E23-87CB-4E0E-A691-8D380E92788F}" type="slidenum">
              <a:rPr lang="en-IN" smtClean="0"/>
              <a:t>‹#›</a:t>
            </a:fld>
            <a:endParaRPr lang="en-IN"/>
          </a:p>
        </p:txBody>
      </p:sp>
    </p:spTree>
    <p:extLst>
      <p:ext uri="{BB962C8B-B14F-4D97-AF65-F5344CB8AC3E}">
        <p14:creationId xmlns:p14="http://schemas.microsoft.com/office/powerpoint/2010/main" val="1828297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3C93E23-87CB-4E0E-A691-8D380E92788F}" type="slidenum">
              <a:rPr lang="en-IN" smtClean="0"/>
              <a:t>3</a:t>
            </a:fld>
            <a:endParaRPr lang="en-IN"/>
          </a:p>
        </p:txBody>
      </p:sp>
    </p:spTree>
    <p:extLst>
      <p:ext uri="{BB962C8B-B14F-4D97-AF65-F5344CB8AC3E}">
        <p14:creationId xmlns:p14="http://schemas.microsoft.com/office/powerpoint/2010/main" val="109876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2.png"/><Relationship Id="rId16"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943" y="0"/>
            <a:ext cx="11528719" cy="10287000"/>
            <a:chOff x="0" y="0"/>
            <a:chExt cx="3036370" cy="2709333"/>
          </a:xfrm>
        </p:grpSpPr>
        <p:sp>
          <p:nvSpPr>
            <p:cNvPr id="3" name="Freeform 3"/>
            <p:cNvSpPr/>
            <p:nvPr/>
          </p:nvSpPr>
          <p:spPr>
            <a:xfrm>
              <a:off x="0" y="0"/>
              <a:ext cx="3036370" cy="2709333"/>
            </a:xfrm>
            <a:custGeom>
              <a:avLst/>
              <a:gdLst/>
              <a:ahLst/>
              <a:cxnLst/>
              <a:rect l="l" t="t" r="r" b="b"/>
              <a:pathLst>
                <a:path w="3036370" h="2709333">
                  <a:moveTo>
                    <a:pt x="0" y="0"/>
                  </a:moveTo>
                  <a:lnTo>
                    <a:pt x="3036370" y="0"/>
                  </a:lnTo>
                  <a:lnTo>
                    <a:pt x="3036370" y="2709333"/>
                  </a:lnTo>
                  <a:lnTo>
                    <a:pt x="0" y="2709333"/>
                  </a:lnTo>
                  <a:close/>
                </a:path>
              </a:pathLst>
            </a:custGeom>
            <a:solidFill>
              <a:srgbClr val="F1F6FF"/>
            </a:solidFill>
          </p:spPr>
        </p:sp>
        <p:sp>
          <p:nvSpPr>
            <p:cNvPr id="4" name="TextBox 4"/>
            <p:cNvSpPr txBox="1"/>
            <p:nvPr/>
          </p:nvSpPr>
          <p:spPr>
            <a:xfrm>
              <a:off x="0" y="-57150"/>
              <a:ext cx="3036370" cy="2766483"/>
            </a:xfrm>
            <a:prstGeom prst="rect">
              <a:avLst/>
            </a:prstGeom>
          </p:spPr>
          <p:txBody>
            <a:bodyPr lIns="50800" tIns="50800" rIns="50800" bIns="50800" rtlCol="0" anchor="ctr"/>
            <a:lstStyle/>
            <a:p>
              <a:pPr marL="0" lvl="0" indent="0" algn="ctr">
                <a:lnSpc>
                  <a:spcPts val="2940"/>
                </a:lnSpc>
              </a:pPr>
              <a:endParaRPr/>
            </a:p>
          </p:txBody>
        </p:sp>
      </p:grpSp>
      <p:grpSp>
        <p:nvGrpSpPr>
          <p:cNvPr id="5" name="Group 5"/>
          <p:cNvGrpSpPr/>
          <p:nvPr/>
        </p:nvGrpSpPr>
        <p:grpSpPr>
          <a:xfrm>
            <a:off x="11314473" y="3079059"/>
            <a:ext cx="6498608" cy="7818050"/>
            <a:chOff x="0" y="0"/>
            <a:chExt cx="1006804" cy="1211221"/>
          </a:xfrm>
        </p:grpSpPr>
        <p:sp>
          <p:nvSpPr>
            <p:cNvPr id="6" name="Freeform 6"/>
            <p:cNvSpPr/>
            <p:nvPr/>
          </p:nvSpPr>
          <p:spPr>
            <a:xfrm>
              <a:off x="0" y="0"/>
              <a:ext cx="1006804" cy="1211221"/>
            </a:xfrm>
            <a:custGeom>
              <a:avLst/>
              <a:gdLst/>
              <a:ahLst/>
              <a:cxnLst/>
              <a:rect l="l" t="t" r="r" b="b"/>
              <a:pathLst>
                <a:path w="1006804" h="1211221">
                  <a:moveTo>
                    <a:pt x="0" y="0"/>
                  </a:moveTo>
                  <a:lnTo>
                    <a:pt x="1006804" y="0"/>
                  </a:lnTo>
                  <a:lnTo>
                    <a:pt x="1006804" y="1211221"/>
                  </a:lnTo>
                  <a:lnTo>
                    <a:pt x="0" y="1211221"/>
                  </a:lnTo>
                  <a:close/>
                </a:path>
              </a:pathLst>
            </a:custGeom>
            <a:blipFill>
              <a:blip r:embed="rId2"/>
              <a:stretch>
                <a:fillRect t="-1389" b="-1389"/>
              </a:stretch>
            </a:blipFill>
          </p:spPr>
        </p:sp>
      </p:grpSp>
      <p:sp>
        <p:nvSpPr>
          <p:cNvPr id="7" name="Freeform 7"/>
          <p:cNvSpPr/>
          <p:nvPr/>
        </p:nvSpPr>
        <p:spPr>
          <a:xfrm>
            <a:off x="987359" y="1107302"/>
            <a:ext cx="959024" cy="757270"/>
          </a:xfrm>
          <a:custGeom>
            <a:avLst/>
            <a:gdLst/>
            <a:ahLst/>
            <a:cxnLst/>
            <a:rect l="l" t="t" r="r" b="b"/>
            <a:pathLst>
              <a:path w="959024" h="757270">
                <a:moveTo>
                  <a:pt x="0" y="0"/>
                </a:moveTo>
                <a:lnTo>
                  <a:pt x="959025" y="0"/>
                </a:lnTo>
                <a:lnTo>
                  <a:pt x="959025" y="757270"/>
                </a:lnTo>
                <a:lnTo>
                  <a:pt x="0" y="757270"/>
                </a:lnTo>
                <a:lnTo>
                  <a:pt x="0" y="0"/>
                </a:lnTo>
                <a:close/>
              </a:path>
            </a:pathLst>
          </a:custGeom>
          <a:blipFill>
            <a:blip r:embed="rId3"/>
            <a:stretch>
              <a:fillRect/>
            </a:stretch>
          </a:blipFill>
        </p:spPr>
      </p:sp>
      <p:grpSp>
        <p:nvGrpSpPr>
          <p:cNvPr id="8" name="Group 8"/>
          <p:cNvGrpSpPr/>
          <p:nvPr/>
        </p:nvGrpSpPr>
        <p:grpSpPr>
          <a:xfrm>
            <a:off x="1028700" y="6782288"/>
            <a:ext cx="155813" cy="15581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F5"/>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2940"/>
                </a:lnSpc>
              </a:pPr>
              <a:endParaRPr/>
            </a:p>
          </p:txBody>
        </p:sp>
      </p:grpSp>
      <p:sp>
        <p:nvSpPr>
          <p:cNvPr id="11" name="TextBox 11"/>
          <p:cNvSpPr txBox="1"/>
          <p:nvPr/>
        </p:nvSpPr>
        <p:spPr>
          <a:xfrm>
            <a:off x="1028700" y="3054349"/>
            <a:ext cx="5952873" cy="1110368"/>
          </a:xfrm>
          <a:prstGeom prst="rect">
            <a:avLst/>
          </a:prstGeom>
        </p:spPr>
        <p:txBody>
          <a:bodyPr lIns="0" tIns="0" rIns="0" bIns="0" rtlCol="0" anchor="t">
            <a:spAutoFit/>
          </a:bodyPr>
          <a:lstStyle/>
          <a:p>
            <a:pPr marL="0" lvl="0" indent="0" algn="l">
              <a:lnSpc>
                <a:spcPts val="8623"/>
              </a:lnSpc>
            </a:pPr>
            <a:r>
              <a:rPr lang="en-US" sz="6159">
                <a:solidFill>
                  <a:srgbClr val="000000"/>
                </a:solidFill>
                <a:latin typeface="Poppins"/>
                <a:ea typeface="Poppins"/>
                <a:cs typeface="Poppins"/>
                <a:sym typeface="Poppins"/>
              </a:rPr>
              <a:t>AI Bookkeeping</a:t>
            </a:r>
          </a:p>
        </p:txBody>
      </p:sp>
      <p:sp>
        <p:nvSpPr>
          <p:cNvPr id="12" name="TextBox 12"/>
          <p:cNvSpPr txBox="1"/>
          <p:nvPr/>
        </p:nvSpPr>
        <p:spPr>
          <a:xfrm>
            <a:off x="13142458" y="942975"/>
            <a:ext cx="4670623" cy="1146382"/>
          </a:xfrm>
          <a:prstGeom prst="rect">
            <a:avLst/>
          </a:prstGeom>
        </p:spPr>
        <p:txBody>
          <a:bodyPr lIns="0" tIns="0" rIns="0" bIns="0" rtlCol="0" anchor="t">
            <a:spAutoFit/>
          </a:bodyPr>
          <a:lstStyle/>
          <a:p>
            <a:pPr marL="0" lvl="0" indent="0" algn="r">
              <a:lnSpc>
                <a:spcPts val="4538"/>
              </a:lnSpc>
            </a:pPr>
            <a:r>
              <a:rPr lang="en-US" sz="3241">
                <a:solidFill>
                  <a:srgbClr val="0C5BF5"/>
                </a:solidFill>
                <a:latin typeface="Poppins"/>
                <a:ea typeface="Poppins"/>
                <a:cs typeface="Poppins"/>
                <a:sym typeface="Poppins"/>
              </a:rPr>
              <a:t>Pavan Sai | B.E. CSE (AI &amp; DS)</a:t>
            </a:r>
          </a:p>
        </p:txBody>
      </p:sp>
      <p:sp>
        <p:nvSpPr>
          <p:cNvPr id="13" name="TextBox 13"/>
          <p:cNvSpPr txBox="1"/>
          <p:nvPr/>
        </p:nvSpPr>
        <p:spPr>
          <a:xfrm>
            <a:off x="1028700" y="4287518"/>
            <a:ext cx="8782050" cy="2144677"/>
          </a:xfrm>
          <a:prstGeom prst="rect">
            <a:avLst/>
          </a:prstGeom>
        </p:spPr>
        <p:txBody>
          <a:bodyPr lIns="0" tIns="0" rIns="0" bIns="0" rtlCol="0" anchor="t">
            <a:spAutoFit/>
          </a:bodyPr>
          <a:lstStyle/>
          <a:p>
            <a:pPr marL="0" lvl="0" indent="0" algn="l">
              <a:lnSpc>
                <a:spcPts val="16621"/>
              </a:lnSpc>
            </a:pPr>
            <a:r>
              <a:rPr lang="en-US" sz="11872" b="1">
                <a:solidFill>
                  <a:srgbClr val="0C5BF5"/>
                </a:solidFill>
                <a:latin typeface="Poppins Bold"/>
                <a:ea typeface="Poppins Bold"/>
                <a:cs typeface="Poppins Bold"/>
                <a:sym typeface="Poppins Bold"/>
              </a:rPr>
              <a:t>Dashboard</a:t>
            </a:r>
          </a:p>
        </p:txBody>
      </p:sp>
      <p:sp>
        <p:nvSpPr>
          <p:cNvPr id="14" name="TextBox 14"/>
          <p:cNvSpPr txBox="1"/>
          <p:nvPr/>
        </p:nvSpPr>
        <p:spPr>
          <a:xfrm>
            <a:off x="1028700" y="8301258"/>
            <a:ext cx="2976437" cy="433753"/>
          </a:xfrm>
          <a:prstGeom prst="rect">
            <a:avLst/>
          </a:prstGeom>
        </p:spPr>
        <p:txBody>
          <a:bodyPr lIns="0" tIns="0" rIns="0" bIns="0" rtlCol="0" anchor="t">
            <a:spAutoFit/>
          </a:bodyPr>
          <a:lstStyle/>
          <a:p>
            <a:pPr marL="0" lvl="0" indent="0" algn="l">
              <a:lnSpc>
                <a:spcPts val="3392"/>
              </a:lnSpc>
            </a:pPr>
            <a:r>
              <a:rPr lang="en-US" sz="2423" i="1">
                <a:solidFill>
                  <a:srgbClr val="000000"/>
                </a:solidFill>
                <a:latin typeface="Poppins Italics"/>
                <a:ea typeface="Poppins Italics"/>
                <a:cs typeface="Poppins Italics"/>
                <a:sym typeface="Poppins Italics"/>
              </a:rPr>
              <a:t>Presented By:</a:t>
            </a:r>
          </a:p>
        </p:txBody>
      </p:sp>
      <p:sp>
        <p:nvSpPr>
          <p:cNvPr id="15" name="TextBox 15"/>
          <p:cNvSpPr txBox="1"/>
          <p:nvPr/>
        </p:nvSpPr>
        <p:spPr>
          <a:xfrm>
            <a:off x="1028700" y="8818057"/>
            <a:ext cx="2976437" cy="433753"/>
          </a:xfrm>
          <a:prstGeom prst="rect">
            <a:avLst/>
          </a:prstGeom>
        </p:spPr>
        <p:txBody>
          <a:bodyPr lIns="0" tIns="0" rIns="0" bIns="0" rtlCol="0" anchor="t">
            <a:spAutoFit/>
          </a:bodyPr>
          <a:lstStyle/>
          <a:p>
            <a:pPr marL="0" lvl="0" indent="0" algn="l">
              <a:lnSpc>
                <a:spcPts val="3392"/>
              </a:lnSpc>
            </a:pPr>
            <a:r>
              <a:rPr lang="en-US" sz="2423" b="1">
                <a:solidFill>
                  <a:srgbClr val="0C5BF5"/>
                </a:solidFill>
                <a:latin typeface="Poppins Semi-Bold"/>
                <a:ea typeface="Poppins Semi-Bold"/>
                <a:cs typeface="Poppins Semi-Bold"/>
                <a:sym typeface="Poppins Semi-Bold"/>
              </a:rPr>
              <a:t>Pavan Sai</a:t>
            </a:r>
          </a:p>
        </p:txBody>
      </p:sp>
      <p:sp>
        <p:nvSpPr>
          <p:cNvPr id="16" name="TextBox 16"/>
          <p:cNvSpPr txBox="1"/>
          <p:nvPr/>
        </p:nvSpPr>
        <p:spPr>
          <a:xfrm>
            <a:off x="5419725" y="8825573"/>
            <a:ext cx="4391025" cy="433753"/>
          </a:xfrm>
          <a:prstGeom prst="rect">
            <a:avLst/>
          </a:prstGeom>
        </p:spPr>
        <p:txBody>
          <a:bodyPr lIns="0" tIns="0" rIns="0" bIns="0" rtlCol="0" anchor="t">
            <a:spAutoFit/>
          </a:bodyPr>
          <a:lstStyle/>
          <a:p>
            <a:pPr marL="0" lvl="0" indent="0" algn="r">
              <a:lnSpc>
                <a:spcPts val="3392"/>
              </a:lnSpc>
            </a:pPr>
            <a:r>
              <a:rPr lang="en-US" sz="2423">
                <a:solidFill>
                  <a:srgbClr val="000000"/>
                </a:solidFill>
                <a:latin typeface="Poppins"/>
                <a:ea typeface="Poppins"/>
                <a:cs typeface="Poppins"/>
                <a:sym typeface="Poppins"/>
              </a:rPr>
              <a:t>Student Hackathon Project</a:t>
            </a:r>
          </a:p>
        </p:txBody>
      </p:sp>
      <p:sp>
        <p:nvSpPr>
          <p:cNvPr id="17" name="TextBox 17"/>
          <p:cNvSpPr txBox="1"/>
          <p:nvPr/>
        </p:nvSpPr>
        <p:spPr>
          <a:xfrm>
            <a:off x="1331703" y="6602038"/>
            <a:ext cx="6750479" cy="439225"/>
          </a:xfrm>
          <a:prstGeom prst="rect">
            <a:avLst/>
          </a:prstGeom>
        </p:spPr>
        <p:txBody>
          <a:bodyPr lIns="0" tIns="0" rIns="0" bIns="0" rtlCol="0" anchor="t">
            <a:spAutoFit/>
          </a:bodyPr>
          <a:lstStyle/>
          <a:p>
            <a:pPr marL="0" lvl="0" indent="0" algn="l">
              <a:lnSpc>
                <a:spcPts val="3481"/>
              </a:lnSpc>
              <a:spcBef>
                <a:spcPct val="0"/>
              </a:spcBef>
            </a:pPr>
            <a:r>
              <a:rPr lang="en-US" sz="2486">
                <a:solidFill>
                  <a:srgbClr val="000000"/>
                </a:solidFill>
                <a:latin typeface="Poppins"/>
                <a:ea typeface="Poppins"/>
                <a:cs typeface="Poppins"/>
                <a:sym typeface="Poppins"/>
              </a:rPr>
              <a:t>Traditional Bookkeeping vs AI Bookkeeping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01362" y="3884158"/>
            <a:ext cx="3678078" cy="5374142"/>
            <a:chOff x="0" y="0"/>
            <a:chExt cx="569831" cy="832595"/>
          </a:xfrm>
        </p:grpSpPr>
        <p:sp>
          <p:nvSpPr>
            <p:cNvPr id="3" name="Freeform 3"/>
            <p:cNvSpPr/>
            <p:nvPr/>
          </p:nvSpPr>
          <p:spPr>
            <a:xfrm>
              <a:off x="0" y="0"/>
              <a:ext cx="569831" cy="832595"/>
            </a:xfrm>
            <a:custGeom>
              <a:avLst/>
              <a:gdLst/>
              <a:ahLst/>
              <a:cxnLst/>
              <a:rect l="l" t="t" r="r" b="b"/>
              <a:pathLst>
                <a:path w="569831" h="832595">
                  <a:moveTo>
                    <a:pt x="0" y="0"/>
                  </a:moveTo>
                  <a:lnTo>
                    <a:pt x="569831" y="0"/>
                  </a:lnTo>
                  <a:lnTo>
                    <a:pt x="569831" y="832595"/>
                  </a:lnTo>
                  <a:lnTo>
                    <a:pt x="0" y="832595"/>
                  </a:lnTo>
                  <a:close/>
                </a:path>
              </a:pathLst>
            </a:custGeom>
            <a:blipFill>
              <a:blip r:embed="rId2"/>
              <a:stretch>
                <a:fillRect t="-790" b="-790"/>
              </a:stretch>
            </a:blipFill>
          </p:spPr>
        </p:sp>
      </p:grpSp>
      <p:sp>
        <p:nvSpPr>
          <p:cNvPr id="4" name="Freeform 4"/>
          <p:cNvSpPr/>
          <p:nvPr/>
        </p:nvSpPr>
        <p:spPr>
          <a:xfrm>
            <a:off x="12644410" y="3158347"/>
            <a:ext cx="710055" cy="711834"/>
          </a:xfrm>
          <a:custGeom>
            <a:avLst/>
            <a:gdLst/>
            <a:ahLst/>
            <a:cxnLst/>
            <a:rect l="l" t="t" r="r" b="b"/>
            <a:pathLst>
              <a:path w="710055" h="711834">
                <a:moveTo>
                  <a:pt x="0" y="0"/>
                </a:moveTo>
                <a:lnTo>
                  <a:pt x="710055" y="0"/>
                </a:lnTo>
                <a:lnTo>
                  <a:pt x="710055" y="711835"/>
                </a:lnTo>
                <a:lnTo>
                  <a:pt x="0" y="711835"/>
                </a:lnTo>
                <a:lnTo>
                  <a:pt x="0" y="0"/>
                </a:lnTo>
                <a:close/>
              </a:path>
            </a:pathLst>
          </a:custGeom>
          <a:blipFill>
            <a:blip r:embed="rId3"/>
            <a:stretch>
              <a:fillRect/>
            </a:stretch>
          </a:blipFill>
        </p:spPr>
      </p:sp>
      <p:sp>
        <p:nvSpPr>
          <p:cNvPr id="5" name="Freeform 5"/>
          <p:cNvSpPr/>
          <p:nvPr/>
        </p:nvSpPr>
        <p:spPr>
          <a:xfrm>
            <a:off x="12496545" y="5117165"/>
            <a:ext cx="1090726" cy="896010"/>
          </a:xfrm>
          <a:custGeom>
            <a:avLst/>
            <a:gdLst/>
            <a:ahLst/>
            <a:cxnLst/>
            <a:rect l="l" t="t" r="r" b="b"/>
            <a:pathLst>
              <a:path w="1090726" h="896010">
                <a:moveTo>
                  <a:pt x="0" y="0"/>
                </a:moveTo>
                <a:lnTo>
                  <a:pt x="1090726" y="0"/>
                </a:lnTo>
                <a:lnTo>
                  <a:pt x="1090726" y="896010"/>
                </a:lnTo>
                <a:lnTo>
                  <a:pt x="0" y="896010"/>
                </a:lnTo>
                <a:lnTo>
                  <a:pt x="0" y="0"/>
                </a:lnTo>
                <a:close/>
              </a:path>
            </a:pathLst>
          </a:custGeom>
          <a:blipFill>
            <a:blip r:embed="rId4"/>
            <a:stretch>
              <a:fillRect/>
            </a:stretch>
          </a:blipFill>
        </p:spPr>
      </p:sp>
      <p:sp>
        <p:nvSpPr>
          <p:cNvPr id="6" name="Freeform 6"/>
          <p:cNvSpPr/>
          <p:nvPr/>
        </p:nvSpPr>
        <p:spPr>
          <a:xfrm>
            <a:off x="12743617" y="7397779"/>
            <a:ext cx="667342" cy="681564"/>
          </a:xfrm>
          <a:custGeom>
            <a:avLst/>
            <a:gdLst/>
            <a:ahLst/>
            <a:cxnLst/>
            <a:rect l="l" t="t" r="r" b="b"/>
            <a:pathLst>
              <a:path w="667342" h="681564">
                <a:moveTo>
                  <a:pt x="0" y="0"/>
                </a:moveTo>
                <a:lnTo>
                  <a:pt x="667343" y="0"/>
                </a:lnTo>
                <a:lnTo>
                  <a:pt x="667343" y="681565"/>
                </a:lnTo>
                <a:lnTo>
                  <a:pt x="0" y="681565"/>
                </a:lnTo>
                <a:lnTo>
                  <a:pt x="0" y="0"/>
                </a:lnTo>
                <a:close/>
              </a:path>
            </a:pathLst>
          </a:custGeom>
          <a:blipFill>
            <a:blip r:embed="rId5"/>
            <a:stretch>
              <a:fillRect/>
            </a:stretch>
          </a:blipFill>
        </p:spPr>
      </p:sp>
      <p:sp>
        <p:nvSpPr>
          <p:cNvPr id="7" name="TextBox 7"/>
          <p:cNvSpPr txBox="1"/>
          <p:nvPr/>
        </p:nvSpPr>
        <p:spPr>
          <a:xfrm>
            <a:off x="1028700" y="1769710"/>
            <a:ext cx="8811701" cy="1234248"/>
          </a:xfrm>
          <a:prstGeom prst="rect">
            <a:avLst/>
          </a:prstGeom>
        </p:spPr>
        <p:txBody>
          <a:bodyPr lIns="0" tIns="0" rIns="0" bIns="0" rtlCol="0" anchor="t">
            <a:spAutoFit/>
          </a:bodyPr>
          <a:lstStyle/>
          <a:p>
            <a:pPr marL="0" lvl="0" indent="0" algn="l">
              <a:lnSpc>
                <a:spcPts val="9670"/>
              </a:lnSpc>
            </a:pPr>
            <a:r>
              <a:rPr lang="en-US" sz="6907" b="1">
                <a:solidFill>
                  <a:srgbClr val="0C5BF5"/>
                </a:solidFill>
                <a:latin typeface="Poppins Bold"/>
                <a:ea typeface="Poppins Bold"/>
                <a:cs typeface="Poppins Bold"/>
                <a:sym typeface="Poppins Bold"/>
              </a:rPr>
              <a:t>Problem Statement</a:t>
            </a:r>
          </a:p>
        </p:txBody>
      </p:sp>
      <p:sp>
        <p:nvSpPr>
          <p:cNvPr id="8" name="TextBox 8"/>
          <p:cNvSpPr txBox="1"/>
          <p:nvPr/>
        </p:nvSpPr>
        <p:spPr>
          <a:xfrm>
            <a:off x="1028700" y="6894170"/>
            <a:ext cx="5949790" cy="2273571"/>
          </a:xfrm>
          <a:prstGeom prst="rect">
            <a:avLst/>
          </a:prstGeom>
        </p:spPr>
        <p:txBody>
          <a:bodyPr lIns="0" tIns="0" rIns="0" bIns="0" rtlCol="0" anchor="t">
            <a:spAutoFit/>
          </a:bodyPr>
          <a:lstStyle/>
          <a:p>
            <a:pPr lvl="0" algn="just">
              <a:lnSpc>
                <a:spcPts val="3016"/>
              </a:lnSpc>
            </a:pPr>
            <a:r>
              <a:rPr lang="en-US" sz="1713" dirty="0">
                <a:solidFill>
                  <a:srgbClr val="000000"/>
                </a:solidFill>
                <a:latin typeface="Poppins Light"/>
                <a:ea typeface="Poppins Light"/>
                <a:cs typeface="Poppins Light"/>
                <a:sym typeface="Poppins Light"/>
              </a:rPr>
              <a:t>Manual data entry processes consume significant time and resources. Human oversight leads to errors in financial records that compound over time. Duplicate and suspicious transactions frequently slip through undetected.</a:t>
            </a:r>
            <a:r>
              <a:rPr lang="en-US" sz="1600" dirty="0">
                <a:solidFill>
                  <a:srgbClr val="000000"/>
                </a:solidFill>
                <a:latin typeface="Poppins Light"/>
                <a:ea typeface="Poppins Light"/>
                <a:cs typeface="Poppins Light"/>
                <a:sym typeface="Poppins Light"/>
              </a:rPr>
              <a:t> </a:t>
            </a:r>
            <a:r>
              <a:rPr lang="en-US" sz="1710" dirty="0">
                <a:latin typeface="Poppins Light" panose="00000400000000000000" pitchFamily="2" charset="0"/>
                <a:cs typeface="Poppins Light" panose="00000400000000000000" pitchFamily="2" charset="0"/>
              </a:rPr>
              <a:t>These inefficiencies make bookkeeping difficult for students, individuals, and small businesses.</a:t>
            </a:r>
            <a:endParaRPr lang="en-US" sz="1710" dirty="0">
              <a:solidFill>
                <a:srgbClr val="000000"/>
              </a:solidFill>
              <a:latin typeface="Poppins Light" panose="00000400000000000000" pitchFamily="2" charset="0"/>
              <a:ea typeface="Poppins Light"/>
              <a:cs typeface="Poppins Light" panose="00000400000000000000" pitchFamily="2" charset="0"/>
              <a:sym typeface="Poppins Light"/>
            </a:endParaRPr>
          </a:p>
        </p:txBody>
      </p:sp>
      <p:sp>
        <p:nvSpPr>
          <p:cNvPr id="9" name="TextBox 9"/>
          <p:cNvSpPr txBox="1"/>
          <p:nvPr/>
        </p:nvSpPr>
        <p:spPr>
          <a:xfrm>
            <a:off x="13572650" y="3756699"/>
            <a:ext cx="3686650" cy="946170"/>
          </a:xfrm>
          <a:prstGeom prst="rect">
            <a:avLst/>
          </a:prstGeom>
        </p:spPr>
        <p:txBody>
          <a:bodyPr lIns="0" tIns="0" rIns="0" bIns="0" rtlCol="0" anchor="t">
            <a:spAutoFit/>
          </a:bodyPr>
          <a:lstStyle/>
          <a:p>
            <a:pPr marL="0" lvl="0" indent="0" algn="just">
              <a:lnSpc>
                <a:spcPts val="2513"/>
              </a:lnSpc>
            </a:pPr>
            <a:r>
              <a:rPr lang="en-US" sz="1428">
                <a:solidFill>
                  <a:srgbClr val="000000"/>
                </a:solidFill>
                <a:latin typeface="Poppins Light"/>
                <a:ea typeface="Poppins Light"/>
                <a:cs typeface="Poppins Light"/>
                <a:sym typeface="Poppins Light"/>
              </a:rPr>
              <a:t>Time-consuming data entry and reconciliation tasks drain productivity and delay financial reporting cycles.</a:t>
            </a:r>
          </a:p>
        </p:txBody>
      </p:sp>
      <p:sp>
        <p:nvSpPr>
          <p:cNvPr id="10" name="TextBox 10"/>
          <p:cNvSpPr txBox="1"/>
          <p:nvPr/>
        </p:nvSpPr>
        <p:spPr>
          <a:xfrm>
            <a:off x="13572650" y="3270503"/>
            <a:ext cx="3686650" cy="424635"/>
          </a:xfrm>
          <a:prstGeom prst="rect">
            <a:avLst/>
          </a:prstGeom>
        </p:spPr>
        <p:txBody>
          <a:bodyPr lIns="0" tIns="0" rIns="0" bIns="0" rtlCol="0" anchor="t">
            <a:spAutoFit/>
          </a:bodyPr>
          <a:lstStyle/>
          <a:p>
            <a:pPr marL="0" lvl="0" indent="0" algn="l">
              <a:lnSpc>
                <a:spcPts val="3369"/>
              </a:lnSpc>
              <a:spcBef>
                <a:spcPct val="0"/>
              </a:spcBef>
            </a:pPr>
            <a:r>
              <a:rPr lang="en-US" sz="2407" b="1">
                <a:solidFill>
                  <a:srgbClr val="0C5BF5"/>
                </a:solidFill>
                <a:latin typeface="Poppins Medium"/>
                <a:ea typeface="Poppins Medium"/>
                <a:cs typeface="Poppins Medium"/>
                <a:sym typeface="Poppins Medium"/>
              </a:rPr>
              <a:t>Manual Processes</a:t>
            </a:r>
          </a:p>
        </p:txBody>
      </p:sp>
      <p:sp>
        <p:nvSpPr>
          <p:cNvPr id="11" name="TextBox 11"/>
          <p:cNvSpPr txBox="1"/>
          <p:nvPr/>
        </p:nvSpPr>
        <p:spPr>
          <a:xfrm>
            <a:off x="13572650" y="5842215"/>
            <a:ext cx="3686650" cy="946170"/>
          </a:xfrm>
          <a:prstGeom prst="rect">
            <a:avLst/>
          </a:prstGeom>
        </p:spPr>
        <p:txBody>
          <a:bodyPr lIns="0" tIns="0" rIns="0" bIns="0" rtlCol="0" anchor="t">
            <a:spAutoFit/>
          </a:bodyPr>
          <a:lstStyle/>
          <a:p>
            <a:pPr marL="0" lvl="0" indent="0" algn="just">
              <a:lnSpc>
                <a:spcPts val="2513"/>
              </a:lnSpc>
            </a:pPr>
            <a:r>
              <a:rPr lang="en-US" sz="1428">
                <a:solidFill>
                  <a:srgbClr val="000000"/>
                </a:solidFill>
                <a:latin typeface="Poppins Light"/>
                <a:ea typeface="Poppins Light"/>
                <a:cs typeface="Poppins Light"/>
                <a:sym typeface="Poppins Light"/>
              </a:rPr>
              <a:t>Prone to mistakes and oversight that lead to inaccurate records, compliance issues, and financial discrepancies.</a:t>
            </a:r>
          </a:p>
        </p:txBody>
      </p:sp>
      <p:sp>
        <p:nvSpPr>
          <p:cNvPr id="12" name="TextBox 12"/>
          <p:cNvSpPr txBox="1"/>
          <p:nvPr/>
        </p:nvSpPr>
        <p:spPr>
          <a:xfrm>
            <a:off x="13572650" y="5356019"/>
            <a:ext cx="3686650" cy="424635"/>
          </a:xfrm>
          <a:prstGeom prst="rect">
            <a:avLst/>
          </a:prstGeom>
        </p:spPr>
        <p:txBody>
          <a:bodyPr lIns="0" tIns="0" rIns="0" bIns="0" rtlCol="0" anchor="t">
            <a:spAutoFit/>
          </a:bodyPr>
          <a:lstStyle/>
          <a:p>
            <a:pPr marL="0" lvl="0" indent="0" algn="l">
              <a:lnSpc>
                <a:spcPts val="3369"/>
              </a:lnSpc>
              <a:spcBef>
                <a:spcPct val="0"/>
              </a:spcBef>
            </a:pPr>
            <a:r>
              <a:rPr lang="en-US" sz="2407" b="1">
                <a:solidFill>
                  <a:srgbClr val="0C5BF5"/>
                </a:solidFill>
                <a:latin typeface="Poppins Medium"/>
                <a:ea typeface="Poppins Medium"/>
                <a:cs typeface="Poppins Medium"/>
                <a:sym typeface="Poppins Medium"/>
              </a:rPr>
              <a:t>Human Errors</a:t>
            </a:r>
          </a:p>
        </p:txBody>
      </p:sp>
      <p:sp>
        <p:nvSpPr>
          <p:cNvPr id="13" name="TextBox 13"/>
          <p:cNvSpPr txBox="1"/>
          <p:nvPr/>
        </p:nvSpPr>
        <p:spPr>
          <a:xfrm>
            <a:off x="13572650" y="7926705"/>
            <a:ext cx="3686650" cy="946170"/>
          </a:xfrm>
          <a:prstGeom prst="rect">
            <a:avLst/>
          </a:prstGeom>
        </p:spPr>
        <p:txBody>
          <a:bodyPr lIns="0" tIns="0" rIns="0" bIns="0" rtlCol="0" anchor="t">
            <a:spAutoFit/>
          </a:bodyPr>
          <a:lstStyle/>
          <a:p>
            <a:pPr marL="0" lvl="0" indent="0" algn="just">
              <a:lnSpc>
                <a:spcPts val="2513"/>
              </a:lnSpc>
            </a:pPr>
            <a:r>
              <a:rPr lang="en-US" sz="1428">
                <a:solidFill>
                  <a:srgbClr val="000000"/>
                </a:solidFill>
                <a:latin typeface="Poppins Light"/>
                <a:ea typeface="Poppins Light"/>
                <a:cs typeface="Poppins Light"/>
                <a:sym typeface="Poppins Light"/>
              </a:rPr>
              <a:t>Duplicate and suspicious transactions often go undetected, exposing businesses to financial risk and loss.</a:t>
            </a:r>
          </a:p>
        </p:txBody>
      </p:sp>
      <p:sp>
        <p:nvSpPr>
          <p:cNvPr id="14" name="TextBox 14"/>
          <p:cNvSpPr txBox="1"/>
          <p:nvPr/>
        </p:nvSpPr>
        <p:spPr>
          <a:xfrm>
            <a:off x="13572650" y="7440510"/>
            <a:ext cx="3686650" cy="424635"/>
          </a:xfrm>
          <a:prstGeom prst="rect">
            <a:avLst/>
          </a:prstGeom>
        </p:spPr>
        <p:txBody>
          <a:bodyPr lIns="0" tIns="0" rIns="0" bIns="0" rtlCol="0" anchor="t">
            <a:spAutoFit/>
          </a:bodyPr>
          <a:lstStyle/>
          <a:p>
            <a:pPr marL="0" lvl="0" indent="0" algn="l">
              <a:lnSpc>
                <a:spcPts val="3369"/>
              </a:lnSpc>
              <a:spcBef>
                <a:spcPct val="0"/>
              </a:spcBef>
            </a:pPr>
            <a:r>
              <a:rPr lang="en-US" sz="2407" b="1">
                <a:solidFill>
                  <a:srgbClr val="0C5BF5"/>
                </a:solidFill>
                <a:latin typeface="Poppins Medium"/>
                <a:ea typeface="Poppins Medium"/>
                <a:cs typeface="Poppins Medium"/>
                <a:sym typeface="Poppins Medium"/>
              </a:rPr>
              <a:t>Missed Fraud</a:t>
            </a:r>
          </a:p>
        </p:txBody>
      </p:sp>
      <p:sp>
        <p:nvSpPr>
          <p:cNvPr id="15" name="Freeform 15"/>
          <p:cNvSpPr/>
          <p:nvPr/>
        </p:nvSpPr>
        <p:spPr>
          <a:xfrm>
            <a:off x="1028700" y="1028700"/>
            <a:ext cx="493692" cy="497309"/>
          </a:xfrm>
          <a:custGeom>
            <a:avLst/>
            <a:gdLst/>
            <a:ahLst/>
            <a:cxnLst/>
            <a:rect l="l" t="t" r="r" b="b"/>
            <a:pathLst>
              <a:path w="493692" h="497309">
                <a:moveTo>
                  <a:pt x="0" y="0"/>
                </a:moveTo>
                <a:lnTo>
                  <a:pt x="493692" y="0"/>
                </a:lnTo>
                <a:lnTo>
                  <a:pt x="493692" y="497309"/>
                </a:lnTo>
                <a:lnTo>
                  <a:pt x="0" y="497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12588677" y="933450"/>
            <a:ext cx="4670623" cy="1173642"/>
          </a:xfrm>
          <a:prstGeom prst="rect">
            <a:avLst/>
          </a:prstGeom>
        </p:spPr>
        <p:txBody>
          <a:bodyPr lIns="0" tIns="0" rIns="0" bIns="0" rtlCol="0" anchor="t">
            <a:spAutoFit/>
          </a:bodyPr>
          <a:lstStyle/>
          <a:p>
            <a:pPr marL="0" lvl="0" indent="0" algn="r">
              <a:lnSpc>
                <a:spcPts val="4611"/>
              </a:lnSpc>
            </a:pPr>
            <a:r>
              <a:rPr lang="en-US" sz="3293">
                <a:solidFill>
                  <a:srgbClr val="0C5BF5"/>
                </a:solidFill>
                <a:latin typeface="Poppins"/>
                <a:ea typeface="Poppins"/>
                <a:cs typeface="Poppins"/>
                <a:sym typeface="Poppins"/>
              </a:rPr>
              <a:t>AI Bookkeeping Dashboard</a:t>
            </a:r>
          </a:p>
        </p:txBody>
      </p:sp>
      <p:sp>
        <p:nvSpPr>
          <p:cNvPr id="17" name="TextBox 17"/>
          <p:cNvSpPr txBox="1"/>
          <p:nvPr/>
        </p:nvSpPr>
        <p:spPr>
          <a:xfrm>
            <a:off x="1028700" y="5870790"/>
            <a:ext cx="5949790" cy="738253"/>
          </a:xfrm>
          <a:prstGeom prst="rect">
            <a:avLst/>
          </a:prstGeom>
        </p:spPr>
        <p:txBody>
          <a:bodyPr lIns="0" tIns="0" rIns="0" bIns="0" rtlCol="0" anchor="t">
            <a:spAutoFit/>
          </a:bodyPr>
          <a:lstStyle/>
          <a:p>
            <a:pPr marL="0" lvl="0" indent="0" algn="l">
              <a:lnSpc>
                <a:spcPts val="2953"/>
              </a:lnSpc>
              <a:spcBef>
                <a:spcPct val="0"/>
              </a:spcBef>
            </a:pPr>
            <a:r>
              <a:rPr lang="en-US" sz="2109" b="1">
                <a:solidFill>
                  <a:srgbClr val="0C5BF5"/>
                </a:solidFill>
                <a:latin typeface="Poppins Medium"/>
                <a:ea typeface="Poppins Medium"/>
                <a:cs typeface="Poppins Medium"/>
                <a:sym typeface="Poppins Medium"/>
              </a:rPr>
              <a:t>Traditional bookkeeping is manual, time-consuming, and prone to costly errors.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2EB89-C640-6A3C-A100-5383F2CE3A19}"/>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D33AEF59-9AA4-3291-5130-7A9CA0E0A5BA}"/>
              </a:ext>
            </a:extLst>
          </p:cNvPr>
          <p:cNvSpPr txBox="1"/>
          <p:nvPr/>
        </p:nvSpPr>
        <p:spPr>
          <a:xfrm>
            <a:off x="914400" y="1769710"/>
            <a:ext cx="8811701" cy="9701887"/>
          </a:xfrm>
          <a:prstGeom prst="rect">
            <a:avLst/>
          </a:prstGeom>
        </p:spPr>
        <p:txBody>
          <a:bodyPr lIns="0" tIns="0" rIns="0" bIns="0" rtlCol="0" anchor="t">
            <a:spAutoFit/>
          </a:bodyPr>
          <a:lstStyle/>
          <a:p>
            <a:pPr lvl="0">
              <a:lnSpc>
                <a:spcPts val="9670"/>
              </a:lnSpc>
            </a:pPr>
            <a:r>
              <a:rPr lang="en-US" sz="6910" dirty="0">
                <a:solidFill>
                  <a:srgbClr val="0C5BF5"/>
                </a:solidFill>
                <a:latin typeface="Poppins Light" panose="00000400000000000000" pitchFamily="2" charset="0"/>
                <a:cs typeface="Poppins Light" panose="00000400000000000000" pitchFamily="2" charset="0"/>
              </a:rPr>
              <a:t>Why This Project Matters for Students</a:t>
            </a:r>
          </a:p>
          <a:p>
            <a:pPr lvl="0">
              <a:lnSpc>
                <a:spcPts val="9670"/>
              </a:lnSpc>
            </a:pPr>
            <a:r>
              <a:rPr lang="en-US" sz="1710" b="1" dirty="0">
                <a:solidFill>
                  <a:srgbClr val="0C5BF5"/>
                </a:solidFill>
                <a:latin typeface="Poppins Light" panose="00000400000000000000" pitchFamily="2" charset="0"/>
                <a:ea typeface="Poppins Bold"/>
                <a:cs typeface="Poppins Light" panose="00000400000000000000" pitchFamily="2" charset="0"/>
                <a:sym typeface="Poppins Bold"/>
              </a:rPr>
              <a:t>• Students manage pocket money and monthly expenses</a:t>
            </a:r>
          </a:p>
          <a:p>
            <a:pPr lvl="0">
              <a:lnSpc>
                <a:spcPts val="9670"/>
              </a:lnSpc>
            </a:pPr>
            <a:r>
              <a:rPr lang="en-US" sz="1710" b="1" dirty="0">
                <a:solidFill>
                  <a:srgbClr val="0C5BF5"/>
                </a:solidFill>
                <a:latin typeface="Poppins Light" panose="00000400000000000000" pitchFamily="2" charset="0"/>
                <a:ea typeface="Poppins Bold"/>
                <a:cs typeface="Poppins Light" panose="00000400000000000000" pitchFamily="2" charset="0"/>
                <a:sym typeface="Poppins Bold"/>
              </a:rPr>
              <a:t>• Difficult to track spending manually</a:t>
            </a:r>
          </a:p>
          <a:p>
            <a:pPr lvl="0">
              <a:lnSpc>
                <a:spcPts val="9670"/>
              </a:lnSpc>
            </a:pPr>
            <a:r>
              <a:rPr lang="en-US" sz="1710" b="1" dirty="0">
                <a:solidFill>
                  <a:srgbClr val="0C5BF5"/>
                </a:solidFill>
                <a:latin typeface="Poppins Light" panose="00000400000000000000" pitchFamily="2" charset="0"/>
                <a:ea typeface="Poppins Bold"/>
                <a:cs typeface="Poppins Light" panose="00000400000000000000" pitchFamily="2" charset="0"/>
                <a:sym typeface="Poppins Bold"/>
              </a:rPr>
              <a:t>• Duplicate entries can create confusion</a:t>
            </a:r>
          </a:p>
          <a:p>
            <a:pPr lvl="0">
              <a:lnSpc>
                <a:spcPts val="9670"/>
              </a:lnSpc>
            </a:pPr>
            <a:r>
              <a:rPr lang="en-US" sz="1710" b="1" dirty="0">
                <a:solidFill>
                  <a:srgbClr val="0C5BF5"/>
                </a:solidFill>
                <a:latin typeface="Poppins Light" panose="00000400000000000000" pitchFamily="2" charset="0"/>
                <a:ea typeface="Poppins Bold"/>
                <a:cs typeface="Poppins Light" panose="00000400000000000000" pitchFamily="2" charset="0"/>
                <a:sym typeface="Poppins Bold"/>
              </a:rPr>
              <a:t>• AI can help identify unusual spending patterns</a:t>
            </a:r>
          </a:p>
          <a:p>
            <a:pPr lvl="0">
              <a:lnSpc>
                <a:spcPts val="9670"/>
              </a:lnSpc>
            </a:pPr>
            <a:r>
              <a:rPr lang="en-US" sz="1710" b="1" dirty="0">
                <a:solidFill>
                  <a:srgbClr val="0C5BF5"/>
                </a:solidFill>
                <a:latin typeface="Poppins Light" panose="00000400000000000000" pitchFamily="2" charset="0"/>
                <a:ea typeface="Poppins Bold"/>
                <a:cs typeface="Poppins Light" panose="00000400000000000000" pitchFamily="2" charset="0"/>
                <a:sym typeface="Poppins Bold"/>
              </a:rPr>
              <a:t>• Encourages financial awareness and budgeting</a:t>
            </a:r>
          </a:p>
          <a:p>
            <a:pPr lvl="0">
              <a:lnSpc>
                <a:spcPts val="9670"/>
              </a:lnSpc>
            </a:pPr>
            <a:endParaRPr lang="en-US" sz="1710" b="1" dirty="0">
              <a:solidFill>
                <a:srgbClr val="0C5BF5"/>
              </a:solidFill>
              <a:latin typeface="Poppins Light" panose="00000400000000000000" pitchFamily="2" charset="0"/>
              <a:ea typeface="Poppins Bold"/>
              <a:cs typeface="Poppins Light" panose="00000400000000000000" pitchFamily="2" charset="0"/>
              <a:sym typeface="Poppins Bold"/>
            </a:endParaRPr>
          </a:p>
        </p:txBody>
      </p:sp>
      <p:sp>
        <p:nvSpPr>
          <p:cNvPr id="15" name="Freeform 15">
            <a:extLst>
              <a:ext uri="{FF2B5EF4-FFF2-40B4-BE49-F238E27FC236}">
                <a16:creationId xmlns:a16="http://schemas.microsoft.com/office/drawing/2014/main" id="{5A1F0A97-4598-60D7-9499-BC5059C8F645}"/>
              </a:ext>
            </a:extLst>
          </p:cNvPr>
          <p:cNvSpPr/>
          <p:nvPr/>
        </p:nvSpPr>
        <p:spPr>
          <a:xfrm>
            <a:off x="1028700" y="1028700"/>
            <a:ext cx="493692" cy="497309"/>
          </a:xfrm>
          <a:custGeom>
            <a:avLst/>
            <a:gdLst/>
            <a:ahLst/>
            <a:cxnLst/>
            <a:rect l="l" t="t" r="r" b="b"/>
            <a:pathLst>
              <a:path w="493692" h="497309">
                <a:moveTo>
                  <a:pt x="0" y="0"/>
                </a:moveTo>
                <a:lnTo>
                  <a:pt x="493692" y="0"/>
                </a:lnTo>
                <a:lnTo>
                  <a:pt x="493692" y="497309"/>
                </a:lnTo>
                <a:lnTo>
                  <a:pt x="0" y="4973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TextBox 16">
            <a:extLst>
              <a:ext uri="{FF2B5EF4-FFF2-40B4-BE49-F238E27FC236}">
                <a16:creationId xmlns:a16="http://schemas.microsoft.com/office/drawing/2014/main" id="{FB157427-B482-5764-6EC7-656BD5B41A0B}"/>
              </a:ext>
            </a:extLst>
          </p:cNvPr>
          <p:cNvSpPr txBox="1"/>
          <p:nvPr/>
        </p:nvSpPr>
        <p:spPr>
          <a:xfrm>
            <a:off x="12588677" y="933450"/>
            <a:ext cx="4670623" cy="1173642"/>
          </a:xfrm>
          <a:prstGeom prst="rect">
            <a:avLst/>
          </a:prstGeom>
        </p:spPr>
        <p:txBody>
          <a:bodyPr lIns="0" tIns="0" rIns="0" bIns="0" rtlCol="0" anchor="t">
            <a:spAutoFit/>
          </a:bodyPr>
          <a:lstStyle/>
          <a:p>
            <a:pPr marL="0" lvl="0" indent="0" algn="r">
              <a:lnSpc>
                <a:spcPts val="4611"/>
              </a:lnSpc>
            </a:pPr>
            <a:r>
              <a:rPr lang="en-US" sz="3293">
                <a:solidFill>
                  <a:srgbClr val="0C5BF5"/>
                </a:solidFill>
                <a:latin typeface="Poppins"/>
                <a:ea typeface="Poppins"/>
                <a:cs typeface="Poppins"/>
                <a:sym typeface="Poppins"/>
              </a:rPr>
              <a:t>AI Bookkeeping Dashboard</a:t>
            </a:r>
          </a:p>
        </p:txBody>
      </p:sp>
    </p:spTree>
    <p:extLst>
      <p:ext uri="{BB962C8B-B14F-4D97-AF65-F5344CB8AC3E}">
        <p14:creationId xmlns:p14="http://schemas.microsoft.com/office/powerpoint/2010/main" val="3353944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3730" y="1031550"/>
            <a:ext cx="498679" cy="496968"/>
          </a:xfrm>
          <a:custGeom>
            <a:avLst/>
            <a:gdLst/>
            <a:ahLst/>
            <a:cxnLst/>
            <a:rect l="l" t="t" r="r" b="b"/>
            <a:pathLst>
              <a:path w="498679" h="496968">
                <a:moveTo>
                  <a:pt x="0" y="0"/>
                </a:moveTo>
                <a:lnTo>
                  <a:pt x="498679" y="0"/>
                </a:lnTo>
                <a:lnTo>
                  <a:pt x="498679" y="496968"/>
                </a:lnTo>
                <a:lnTo>
                  <a:pt x="0" y="496968"/>
                </a:lnTo>
                <a:lnTo>
                  <a:pt x="0" y="0"/>
                </a:lnTo>
                <a:close/>
              </a:path>
            </a:pathLst>
          </a:custGeom>
          <a:blipFill>
            <a:blip r:embed="rId2"/>
            <a:stretch>
              <a:fillRect/>
            </a:stretch>
          </a:blipFill>
        </p:spPr>
      </p:sp>
      <p:sp>
        <p:nvSpPr>
          <p:cNvPr id="3" name="Freeform 3"/>
          <p:cNvSpPr/>
          <p:nvPr/>
        </p:nvSpPr>
        <p:spPr>
          <a:xfrm>
            <a:off x="3056400" y="4476446"/>
            <a:ext cx="1103329" cy="1105988"/>
          </a:xfrm>
          <a:custGeom>
            <a:avLst/>
            <a:gdLst/>
            <a:ahLst/>
            <a:cxnLst/>
            <a:rect l="l" t="t" r="r" b="b"/>
            <a:pathLst>
              <a:path w="1103329" h="1105988">
                <a:moveTo>
                  <a:pt x="0" y="0"/>
                </a:moveTo>
                <a:lnTo>
                  <a:pt x="1103329" y="0"/>
                </a:lnTo>
                <a:lnTo>
                  <a:pt x="1103329" y="1105988"/>
                </a:lnTo>
                <a:lnTo>
                  <a:pt x="0" y="1105988"/>
                </a:lnTo>
                <a:lnTo>
                  <a:pt x="0" y="0"/>
                </a:lnTo>
                <a:close/>
              </a:path>
            </a:pathLst>
          </a:custGeom>
          <a:blipFill>
            <a:blip r:embed="rId3"/>
            <a:stretch>
              <a:fillRect/>
            </a:stretch>
          </a:blipFill>
        </p:spPr>
      </p:sp>
      <p:sp>
        <p:nvSpPr>
          <p:cNvPr id="4" name="Freeform 4"/>
          <p:cNvSpPr/>
          <p:nvPr/>
        </p:nvSpPr>
        <p:spPr>
          <a:xfrm>
            <a:off x="8667275" y="4553229"/>
            <a:ext cx="949693" cy="958913"/>
          </a:xfrm>
          <a:custGeom>
            <a:avLst/>
            <a:gdLst/>
            <a:ahLst/>
            <a:cxnLst/>
            <a:rect l="l" t="t" r="r" b="b"/>
            <a:pathLst>
              <a:path w="949693" h="958913">
                <a:moveTo>
                  <a:pt x="0" y="0"/>
                </a:moveTo>
                <a:lnTo>
                  <a:pt x="949693" y="0"/>
                </a:lnTo>
                <a:lnTo>
                  <a:pt x="949693" y="958913"/>
                </a:lnTo>
                <a:lnTo>
                  <a:pt x="0" y="958913"/>
                </a:lnTo>
                <a:lnTo>
                  <a:pt x="0" y="0"/>
                </a:lnTo>
                <a:close/>
              </a:path>
            </a:pathLst>
          </a:custGeom>
          <a:blipFill>
            <a:blip r:embed="rId4"/>
            <a:stretch>
              <a:fillRect/>
            </a:stretch>
          </a:blipFill>
        </p:spPr>
      </p:sp>
      <p:sp>
        <p:nvSpPr>
          <p:cNvPr id="5" name="Freeform 5"/>
          <p:cNvSpPr/>
          <p:nvPr/>
        </p:nvSpPr>
        <p:spPr>
          <a:xfrm>
            <a:off x="14175694" y="4344933"/>
            <a:ext cx="1039192" cy="1336104"/>
          </a:xfrm>
          <a:custGeom>
            <a:avLst/>
            <a:gdLst/>
            <a:ahLst/>
            <a:cxnLst/>
            <a:rect l="l" t="t" r="r" b="b"/>
            <a:pathLst>
              <a:path w="1039192" h="1336104">
                <a:moveTo>
                  <a:pt x="0" y="0"/>
                </a:moveTo>
                <a:lnTo>
                  <a:pt x="1039192" y="0"/>
                </a:lnTo>
                <a:lnTo>
                  <a:pt x="1039192" y="1336104"/>
                </a:lnTo>
                <a:lnTo>
                  <a:pt x="0" y="1336104"/>
                </a:lnTo>
                <a:lnTo>
                  <a:pt x="0" y="0"/>
                </a:lnTo>
                <a:close/>
              </a:path>
            </a:pathLst>
          </a:custGeom>
          <a:blipFill>
            <a:blip r:embed="rId5"/>
            <a:stretch>
              <a:fillRect/>
            </a:stretch>
          </a:blipFill>
        </p:spPr>
      </p:sp>
      <p:sp>
        <p:nvSpPr>
          <p:cNvPr id="6" name="TextBox 6"/>
          <p:cNvSpPr txBox="1"/>
          <p:nvPr/>
        </p:nvSpPr>
        <p:spPr>
          <a:xfrm>
            <a:off x="4973691" y="1668463"/>
            <a:ext cx="8340618" cy="1361966"/>
          </a:xfrm>
          <a:prstGeom prst="rect">
            <a:avLst/>
          </a:prstGeom>
        </p:spPr>
        <p:txBody>
          <a:bodyPr lIns="0" tIns="0" rIns="0" bIns="0" rtlCol="0" anchor="t">
            <a:spAutoFit/>
          </a:bodyPr>
          <a:lstStyle/>
          <a:p>
            <a:pPr marL="0" lvl="0" indent="0" algn="ctr">
              <a:lnSpc>
                <a:spcPts val="10505"/>
              </a:lnSpc>
            </a:pPr>
            <a:r>
              <a:rPr lang="en-US" sz="7504" b="1">
                <a:solidFill>
                  <a:srgbClr val="0C5BF5"/>
                </a:solidFill>
                <a:latin typeface="Poppins Bold"/>
                <a:ea typeface="Poppins Bold"/>
                <a:cs typeface="Poppins Bold"/>
                <a:sym typeface="Poppins Bold"/>
              </a:rPr>
              <a:t>Project Objective</a:t>
            </a:r>
          </a:p>
        </p:txBody>
      </p:sp>
      <p:sp>
        <p:nvSpPr>
          <p:cNvPr id="7" name="TextBox 7"/>
          <p:cNvSpPr txBox="1"/>
          <p:nvPr/>
        </p:nvSpPr>
        <p:spPr>
          <a:xfrm>
            <a:off x="12588677" y="942975"/>
            <a:ext cx="4670623" cy="492778"/>
          </a:xfrm>
          <a:prstGeom prst="rect">
            <a:avLst/>
          </a:prstGeom>
        </p:spPr>
        <p:txBody>
          <a:bodyPr lIns="0" tIns="0" rIns="0" bIns="0" rtlCol="0" anchor="t">
            <a:spAutoFit/>
          </a:bodyPr>
          <a:lstStyle/>
          <a:p>
            <a:pPr marL="0" lvl="0" indent="0" algn="r">
              <a:lnSpc>
                <a:spcPts val="3813"/>
              </a:lnSpc>
            </a:pPr>
            <a:r>
              <a:rPr lang="en-US" sz="2724">
                <a:solidFill>
                  <a:srgbClr val="0C5BF5"/>
                </a:solidFill>
                <a:latin typeface="Poppins"/>
                <a:ea typeface="Poppins"/>
                <a:cs typeface="Poppins"/>
                <a:sym typeface="Poppins"/>
              </a:rPr>
              <a:t>AI Bookkeeping Dashboard</a:t>
            </a:r>
          </a:p>
        </p:txBody>
      </p:sp>
      <p:sp>
        <p:nvSpPr>
          <p:cNvPr id="8" name="TextBox 8"/>
          <p:cNvSpPr txBox="1"/>
          <p:nvPr/>
        </p:nvSpPr>
        <p:spPr>
          <a:xfrm>
            <a:off x="1028700" y="6410642"/>
            <a:ext cx="5091608" cy="1322070"/>
          </a:xfrm>
          <a:prstGeom prst="rect">
            <a:avLst/>
          </a:prstGeom>
        </p:spPr>
        <p:txBody>
          <a:bodyPr lIns="0" tIns="0" rIns="0" bIns="0" rtlCol="0" anchor="t">
            <a:spAutoFit/>
          </a:bodyPr>
          <a:lstStyle/>
          <a:p>
            <a:pPr marL="0" lvl="0" indent="0" algn="ctr">
              <a:lnSpc>
                <a:spcPts val="2640"/>
              </a:lnSpc>
            </a:pPr>
            <a:r>
              <a:rPr lang="en-US" sz="1500">
                <a:solidFill>
                  <a:srgbClr val="000000"/>
                </a:solidFill>
                <a:latin typeface="Poppins Light"/>
                <a:ea typeface="Poppins Light"/>
                <a:cs typeface="Poppins Light"/>
                <a:sym typeface="Poppins Light"/>
              </a:rPr>
              <a:t>Leverage AI assistance to significantly enhance bookkeeping accuracy, minimizing human errors and ensuring reliable financial records through intelligent data validation and automated cross-checking.</a:t>
            </a:r>
          </a:p>
        </p:txBody>
      </p:sp>
      <p:sp>
        <p:nvSpPr>
          <p:cNvPr id="9" name="TextBox 9"/>
          <p:cNvSpPr txBox="1"/>
          <p:nvPr/>
        </p:nvSpPr>
        <p:spPr>
          <a:xfrm>
            <a:off x="1028700"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Improve Accuracy</a:t>
            </a:r>
          </a:p>
        </p:txBody>
      </p:sp>
      <p:sp>
        <p:nvSpPr>
          <p:cNvPr id="10" name="TextBox 10"/>
          <p:cNvSpPr txBox="1"/>
          <p:nvPr/>
        </p:nvSpPr>
        <p:spPr>
          <a:xfrm>
            <a:off x="6595945" y="6410642"/>
            <a:ext cx="5091608" cy="1322070"/>
          </a:xfrm>
          <a:prstGeom prst="rect">
            <a:avLst/>
          </a:prstGeom>
        </p:spPr>
        <p:txBody>
          <a:bodyPr lIns="0" tIns="0" rIns="0" bIns="0" rtlCol="0" anchor="t">
            <a:spAutoFit/>
          </a:bodyPr>
          <a:lstStyle/>
          <a:p>
            <a:pPr marL="0" lvl="0" indent="0" algn="ctr">
              <a:lnSpc>
                <a:spcPts val="2640"/>
              </a:lnSpc>
            </a:pPr>
            <a:r>
              <a:rPr lang="en-US" sz="1500">
                <a:solidFill>
                  <a:srgbClr val="000000"/>
                </a:solidFill>
                <a:latin typeface="Poppins Light"/>
                <a:ea typeface="Poppins Light"/>
                <a:cs typeface="Poppins Light"/>
                <a:sym typeface="Poppins Light"/>
              </a:rPr>
              <a:t>Streamline bookkeeping workflows by automating repetitive tasks, dramatically cutting processing time and freeing up resources for higher-value financial analysis and decision-making.</a:t>
            </a:r>
          </a:p>
        </p:txBody>
      </p:sp>
      <p:sp>
        <p:nvSpPr>
          <p:cNvPr id="11" name="TextBox 11"/>
          <p:cNvSpPr txBox="1"/>
          <p:nvPr/>
        </p:nvSpPr>
        <p:spPr>
          <a:xfrm>
            <a:off x="6595945"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Reduce Manual Effort</a:t>
            </a:r>
          </a:p>
        </p:txBody>
      </p:sp>
      <p:sp>
        <p:nvSpPr>
          <p:cNvPr id="12" name="TextBox 12"/>
          <p:cNvSpPr txBox="1"/>
          <p:nvPr/>
        </p:nvSpPr>
        <p:spPr>
          <a:xfrm>
            <a:off x="12167692" y="6410642"/>
            <a:ext cx="5091608" cy="1304203"/>
          </a:xfrm>
          <a:prstGeom prst="rect">
            <a:avLst/>
          </a:prstGeom>
        </p:spPr>
        <p:txBody>
          <a:bodyPr lIns="0" tIns="0" rIns="0" bIns="0" rtlCol="0" anchor="t">
            <a:spAutoFit/>
          </a:bodyPr>
          <a:lstStyle/>
          <a:p>
            <a:pPr marL="0" lvl="0" indent="0" algn="ctr">
              <a:lnSpc>
                <a:spcPts val="2640"/>
              </a:lnSpc>
            </a:pPr>
            <a:r>
              <a:rPr lang="en-US" sz="1500" dirty="0">
                <a:solidFill>
                  <a:srgbClr val="000000"/>
                </a:solidFill>
                <a:latin typeface="Poppins Light"/>
                <a:ea typeface="Poppins Light"/>
                <a:cs typeface="Poppins Light"/>
                <a:sym typeface="Poppins Light"/>
              </a:rPr>
              <a:t>Effectively identify duplicate entries and suspicious transactions through rule –based AI analysis, providing risk classification and early warning alerts to prevent fraud.</a:t>
            </a:r>
          </a:p>
        </p:txBody>
      </p:sp>
      <p:sp>
        <p:nvSpPr>
          <p:cNvPr id="13" name="TextBox 13"/>
          <p:cNvSpPr txBox="1"/>
          <p:nvPr/>
        </p:nvSpPr>
        <p:spPr>
          <a:xfrm>
            <a:off x="12167692"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Detect Suspicious Activity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6FF"/>
        </a:solidFill>
        <a:effectLst/>
      </p:bgPr>
    </p:bg>
    <p:spTree>
      <p:nvGrpSpPr>
        <p:cNvPr id="1" name=""/>
        <p:cNvGrpSpPr/>
        <p:nvPr/>
      </p:nvGrpSpPr>
      <p:grpSpPr>
        <a:xfrm>
          <a:off x="0" y="0"/>
          <a:ext cx="0" cy="0"/>
          <a:chOff x="0" y="0"/>
          <a:chExt cx="0" cy="0"/>
        </a:xfrm>
      </p:grpSpPr>
      <p:sp>
        <p:nvSpPr>
          <p:cNvPr id="2" name="Freeform 2"/>
          <p:cNvSpPr/>
          <p:nvPr/>
        </p:nvSpPr>
        <p:spPr>
          <a:xfrm>
            <a:off x="987120" y="1036272"/>
            <a:ext cx="960551" cy="881068"/>
          </a:xfrm>
          <a:custGeom>
            <a:avLst/>
            <a:gdLst/>
            <a:ahLst/>
            <a:cxnLst/>
            <a:rect l="l" t="t" r="r" b="b"/>
            <a:pathLst>
              <a:path w="960551" h="881068">
                <a:moveTo>
                  <a:pt x="0" y="0"/>
                </a:moveTo>
                <a:lnTo>
                  <a:pt x="960550" y="0"/>
                </a:lnTo>
                <a:lnTo>
                  <a:pt x="960550" y="881069"/>
                </a:lnTo>
                <a:lnTo>
                  <a:pt x="0" y="881069"/>
                </a:lnTo>
                <a:lnTo>
                  <a:pt x="0" y="0"/>
                </a:lnTo>
                <a:close/>
              </a:path>
            </a:pathLst>
          </a:custGeom>
          <a:blipFill>
            <a:blip r:embed="rId2"/>
            <a:stretch>
              <a:fillRect/>
            </a:stretch>
          </a:blipFill>
        </p:spPr>
      </p:sp>
      <p:sp>
        <p:nvSpPr>
          <p:cNvPr id="3" name="Freeform 3"/>
          <p:cNvSpPr/>
          <p:nvPr/>
        </p:nvSpPr>
        <p:spPr>
          <a:xfrm>
            <a:off x="16035132" y="4446681"/>
            <a:ext cx="1218956" cy="1247750"/>
          </a:xfrm>
          <a:custGeom>
            <a:avLst/>
            <a:gdLst/>
            <a:ahLst/>
            <a:cxnLst/>
            <a:rect l="l" t="t" r="r" b="b"/>
            <a:pathLst>
              <a:path w="1218956" h="1247750">
                <a:moveTo>
                  <a:pt x="0" y="0"/>
                </a:moveTo>
                <a:lnTo>
                  <a:pt x="1218956" y="0"/>
                </a:lnTo>
                <a:lnTo>
                  <a:pt x="1218956" y="1247750"/>
                </a:lnTo>
                <a:lnTo>
                  <a:pt x="0" y="1247750"/>
                </a:lnTo>
                <a:lnTo>
                  <a:pt x="0" y="0"/>
                </a:lnTo>
                <a:close/>
              </a:path>
            </a:pathLst>
          </a:custGeom>
          <a:blipFill>
            <a:blip r:embed="rId3"/>
            <a:stretch>
              <a:fillRect/>
            </a:stretch>
          </a:blipFill>
        </p:spPr>
      </p:sp>
      <p:sp>
        <p:nvSpPr>
          <p:cNvPr id="4" name="Freeform 4"/>
          <p:cNvSpPr/>
          <p:nvPr/>
        </p:nvSpPr>
        <p:spPr>
          <a:xfrm>
            <a:off x="13988849" y="4496378"/>
            <a:ext cx="2058995" cy="1228378"/>
          </a:xfrm>
          <a:custGeom>
            <a:avLst/>
            <a:gdLst/>
            <a:ahLst/>
            <a:cxnLst/>
            <a:rect l="l" t="t" r="r" b="b"/>
            <a:pathLst>
              <a:path w="2058995" h="1228378">
                <a:moveTo>
                  <a:pt x="0" y="0"/>
                </a:moveTo>
                <a:lnTo>
                  <a:pt x="2058996" y="0"/>
                </a:lnTo>
                <a:lnTo>
                  <a:pt x="2058996" y="1228378"/>
                </a:lnTo>
                <a:lnTo>
                  <a:pt x="0" y="1228378"/>
                </a:lnTo>
                <a:lnTo>
                  <a:pt x="0" y="0"/>
                </a:lnTo>
                <a:close/>
              </a:path>
            </a:pathLst>
          </a:custGeom>
          <a:blipFill>
            <a:blip r:embed="rId4"/>
            <a:stretch>
              <a:fillRect/>
            </a:stretch>
          </a:blipFill>
        </p:spPr>
      </p:sp>
      <p:sp>
        <p:nvSpPr>
          <p:cNvPr id="5" name="Freeform 5"/>
          <p:cNvSpPr/>
          <p:nvPr/>
        </p:nvSpPr>
        <p:spPr>
          <a:xfrm>
            <a:off x="11430168" y="2740218"/>
            <a:ext cx="1355894" cy="1384324"/>
          </a:xfrm>
          <a:custGeom>
            <a:avLst/>
            <a:gdLst/>
            <a:ahLst/>
            <a:cxnLst/>
            <a:rect l="l" t="t" r="r" b="b"/>
            <a:pathLst>
              <a:path w="1355894" h="1384324">
                <a:moveTo>
                  <a:pt x="0" y="0"/>
                </a:moveTo>
                <a:lnTo>
                  <a:pt x="1355894" y="0"/>
                </a:lnTo>
                <a:lnTo>
                  <a:pt x="1355894" y="1384324"/>
                </a:lnTo>
                <a:lnTo>
                  <a:pt x="0" y="1384324"/>
                </a:lnTo>
                <a:lnTo>
                  <a:pt x="0" y="0"/>
                </a:lnTo>
                <a:close/>
              </a:path>
            </a:pathLst>
          </a:custGeom>
          <a:blipFill>
            <a:blip r:embed="rId5"/>
            <a:stretch>
              <a:fillRect/>
            </a:stretch>
          </a:blipFill>
        </p:spPr>
      </p:sp>
      <p:sp>
        <p:nvSpPr>
          <p:cNvPr id="6" name="Freeform 6"/>
          <p:cNvSpPr/>
          <p:nvPr/>
        </p:nvSpPr>
        <p:spPr>
          <a:xfrm>
            <a:off x="10191029" y="6342998"/>
            <a:ext cx="879265" cy="1049869"/>
          </a:xfrm>
          <a:custGeom>
            <a:avLst/>
            <a:gdLst/>
            <a:ahLst/>
            <a:cxnLst/>
            <a:rect l="l" t="t" r="r" b="b"/>
            <a:pathLst>
              <a:path w="879265" h="1049869">
                <a:moveTo>
                  <a:pt x="0" y="0"/>
                </a:moveTo>
                <a:lnTo>
                  <a:pt x="879265" y="0"/>
                </a:lnTo>
                <a:lnTo>
                  <a:pt x="879265" y="1049869"/>
                </a:lnTo>
                <a:lnTo>
                  <a:pt x="0" y="1049869"/>
                </a:lnTo>
                <a:lnTo>
                  <a:pt x="0" y="0"/>
                </a:lnTo>
                <a:close/>
              </a:path>
            </a:pathLst>
          </a:custGeom>
          <a:blipFill>
            <a:blip r:embed="rId6"/>
            <a:stretch>
              <a:fillRect/>
            </a:stretch>
          </a:blipFill>
        </p:spPr>
      </p:sp>
      <p:sp>
        <p:nvSpPr>
          <p:cNvPr id="7" name="Freeform 7"/>
          <p:cNvSpPr/>
          <p:nvPr/>
        </p:nvSpPr>
        <p:spPr>
          <a:xfrm>
            <a:off x="14664914" y="2678738"/>
            <a:ext cx="838894" cy="1134875"/>
          </a:xfrm>
          <a:custGeom>
            <a:avLst/>
            <a:gdLst/>
            <a:ahLst/>
            <a:cxnLst/>
            <a:rect l="l" t="t" r="r" b="b"/>
            <a:pathLst>
              <a:path w="838894" h="1134875">
                <a:moveTo>
                  <a:pt x="0" y="0"/>
                </a:moveTo>
                <a:lnTo>
                  <a:pt x="838894" y="0"/>
                </a:lnTo>
                <a:lnTo>
                  <a:pt x="838894" y="1134874"/>
                </a:lnTo>
                <a:lnTo>
                  <a:pt x="0" y="1134874"/>
                </a:lnTo>
                <a:lnTo>
                  <a:pt x="0" y="0"/>
                </a:lnTo>
                <a:close/>
              </a:path>
            </a:pathLst>
          </a:custGeom>
          <a:blipFill>
            <a:blip r:embed="rId7"/>
            <a:stretch>
              <a:fillRect/>
            </a:stretch>
          </a:blipFill>
        </p:spPr>
      </p:sp>
      <p:sp>
        <p:nvSpPr>
          <p:cNvPr id="8" name="Freeform 8"/>
          <p:cNvSpPr/>
          <p:nvPr/>
        </p:nvSpPr>
        <p:spPr>
          <a:xfrm>
            <a:off x="16203028" y="2760606"/>
            <a:ext cx="960219" cy="1143190"/>
          </a:xfrm>
          <a:custGeom>
            <a:avLst/>
            <a:gdLst/>
            <a:ahLst/>
            <a:cxnLst/>
            <a:rect l="l" t="t" r="r" b="b"/>
            <a:pathLst>
              <a:path w="960219" h="1143190">
                <a:moveTo>
                  <a:pt x="0" y="0"/>
                </a:moveTo>
                <a:lnTo>
                  <a:pt x="960219" y="0"/>
                </a:lnTo>
                <a:lnTo>
                  <a:pt x="960219" y="1143190"/>
                </a:lnTo>
                <a:lnTo>
                  <a:pt x="0" y="1143190"/>
                </a:lnTo>
                <a:lnTo>
                  <a:pt x="0" y="0"/>
                </a:lnTo>
                <a:close/>
              </a:path>
            </a:pathLst>
          </a:custGeom>
          <a:blipFill>
            <a:blip r:embed="rId8"/>
            <a:stretch>
              <a:fillRect/>
            </a:stretch>
          </a:blipFill>
        </p:spPr>
      </p:sp>
      <p:sp>
        <p:nvSpPr>
          <p:cNvPr id="9" name="Freeform 9"/>
          <p:cNvSpPr/>
          <p:nvPr/>
        </p:nvSpPr>
        <p:spPr>
          <a:xfrm>
            <a:off x="10132709" y="2477059"/>
            <a:ext cx="983113" cy="1761540"/>
          </a:xfrm>
          <a:custGeom>
            <a:avLst/>
            <a:gdLst/>
            <a:ahLst/>
            <a:cxnLst/>
            <a:rect l="l" t="t" r="r" b="b"/>
            <a:pathLst>
              <a:path w="983113" h="1761540">
                <a:moveTo>
                  <a:pt x="0" y="0"/>
                </a:moveTo>
                <a:lnTo>
                  <a:pt x="983113" y="0"/>
                </a:lnTo>
                <a:lnTo>
                  <a:pt x="983113" y="1761540"/>
                </a:lnTo>
                <a:lnTo>
                  <a:pt x="0" y="1761540"/>
                </a:lnTo>
                <a:lnTo>
                  <a:pt x="0" y="0"/>
                </a:lnTo>
                <a:close/>
              </a:path>
            </a:pathLst>
          </a:custGeom>
          <a:blipFill>
            <a:blip r:embed="rId9"/>
            <a:stretch>
              <a:fillRect/>
            </a:stretch>
          </a:blipFill>
        </p:spPr>
      </p:sp>
      <p:sp>
        <p:nvSpPr>
          <p:cNvPr id="10" name="Freeform 10"/>
          <p:cNvSpPr/>
          <p:nvPr/>
        </p:nvSpPr>
        <p:spPr>
          <a:xfrm>
            <a:off x="12761645" y="2599616"/>
            <a:ext cx="1668337" cy="1403567"/>
          </a:xfrm>
          <a:custGeom>
            <a:avLst/>
            <a:gdLst/>
            <a:ahLst/>
            <a:cxnLst/>
            <a:rect l="l" t="t" r="r" b="b"/>
            <a:pathLst>
              <a:path w="1668337" h="1403567">
                <a:moveTo>
                  <a:pt x="0" y="0"/>
                </a:moveTo>
                <a:lnTo>
                  <a:pt x="1668337" y="0"/>
                </a:lnTo>
                <a:lnTo>
                  <a:pt x="1668337" y="1403567"/>
                </a:lnTo>
                <a:lnTo>
                  <a:pt x="0" y="1403567"/>
                </a:lnTo>
                <a:lnTo>
                  <a:pt x="0" y="0"/>
                </a:lnTo>
                <a:close/>
              </a:path>
            </a:pathLst>
          </a:custGeom>
          <a:blipFill>
            <a:blip r:embed="rId10"/>
            <a:stretch>
              <a:fillRect/>
            </a:stretch>
          </a:blipFill>
        </p:spPr>
      </p:sp>
      <p:sp>
        <p:nvSpPr>
          <p:cNvPr id="11" name="Freeform 11"/>
          <p:cNvSpPr/>
          <p:nvPr/>
        </p:nvSpPr>
        <p:spPr>
          <a:xfrm>
            <a:off x="9926496" y="4596392"/>
            <a:ext cx="1287505" cy="886147"/>
          </a:xfrm>
          <a:custGeom>
            <a:avLst/>
            <a:gdLst/>
            <a:ahLst/>
            <a:cxnLst/>
            <a:rect l="l" t="t" r="r" b="b"/>
            <a:pathLst>
              <a:path w="1287505" h="886147">
                <a:moveTo>
                  <a:pt x="0" y="0"/>
                </a:moveTo>
                <a:lnTo>
                  <a:pt x="1287505" y="0"/>
                </a:lnTo>
                <a:lnTo>
                  <a:pt x="1287505" y="886147"/>
                </a:lnTo>
                <a:lnTo>
                  <a:pt x="0" y="886147"/>
                </a:lnTo>
                <a:lnTo>
                  <a:pt x="0" y="0"/>
                </a:lnTo>
                <a:close/>
              </a:path>
            </a:pathLst>
          </a:custGeom>
          <a:blipFill>
            <a:blip r:embed="rId11"/>
            <a:stretch>
              <a:fillRect/>
            </a:stretch>
          </a:blipFill>
        </p:spPr>
      </p:sp>
      <p:sp>
        <p:nvSpPr>
          <p:cNvPr id="12" name="Freeform 12"/>
          <p:cNvSpPr/>
          <p:nvPr/>
        </p:nvSpPr>
        <p:spPr>
          <a:xfrm>
            <a:off x="11555052" y="4169843"/>
            <a:ext cx="933654" cy="1809800"/>
          </a:xfrm>
          <a:custGeom>
            <a:avLst/>
            <a:gdLst/>
            <a:ahLst/>
            <a:cxnLst/>
            <a:rect l="l" t="t" r="r" b="b"/>
            <a:pathLst>
              <a:path w="933654" h="1809800">
                <a:moveTo>
                  <a:pt x="0" y="0"/>
                </a:moveTo>
                <a:lnTo>
                  <a:pt x="933654" y="0"/>
                </a:lnTo>
                <a:lnTo>
                  <a:pt x="933654" y="1809799"/>
                </a:lnTo>
                <a:lnTo>
                  <a:pt x="0" y="1809799"/>
                </a:lnTo>
                <a:lnTo>
                  <a:pt x="0" y="0"/>
                </a:lnTo>
                <a:close/>
              </a:path>
            </a:pathLst>
          </a:custGeom>
          <a:blipFill>
            <a:blip r:embed="rId12"/>
            <a:stretch>
              <a:fillRect/>
            </a:stretch>
          </a:blipFill>
        </p:spPr>
      </p:sp>
      <p:sp>
        <p:nvSpPr>
          <p:cNvPr id="13" name="Freeform 13"/>
          <p:cNvSpPr/>
          <p:nvPr/>
        </p:nvSpPr>
        <p:spPr>
          <a:xfrm>
            <a:off x="12947367" y="4480113"/>
            <a:ext cx="1358467" cy="1347296"/>
          </a:xfrm>
          <a:custGeom>
            <a:avLst/>
            <a:gdLst/>
            <a:ahLst/>
            <a:cxnLst/>
            <a:rect l="l" t="t" r="r" b="b"/>
            <a:pathLst>
              <a:path w="1358467" h="1347296">
                <a:moveTo>
                  <a:pt x="0" y="0"/>
                </a:moveTo>
                <a:lnTo>
                  <a:pt x="1358467" y="0"/>
                </a:lnTo>
                <a:lnTo>
                  <a:pt x="1358467" y="1347295"/>
                </a:lnTo>
                <a:lnTo>
                  <a:pt x="0" y="1347295"/>
                </a:lnTo>
                <a:lnTo>
                  <a:pt x="0" y="0"/>
                </a:lnTo>
                <a:close/>
              </a:path>
            </a:pathLst>
          </a:custGeom>
          <a:blipFill>
            <a:blip r:embed="rId13"/>
            <a:stretch>
              <a:fillRect/>
            </a:stretch>
          </a:blipFill>
        </p:spPr>
      </p:sp>
      <p:sp>
        <p:nvSpPr>
          <p:cNvPr id="14" name="Freeform 14"/>
          <p:cNvSpPr/>
          <p:nvPr/>
        </p:nvSpPr>
        <p:spPr>
          <a:xfrm>
            <a:off x="10072477" y="8074441"/>
            <a:ext cx="1067277" cy="1396568"/>
          </a:xfrm>
          <a:custGeom>
            <a:avLst/>
            <a:gdLst/>
            <a:ahLst/>
            <a:cxnLst/>
            <a:rect l="l" t="t" r="r" b="b"/>
            <a:pathLst>
              <a:path w="1067277" h="1396568">
                <a:moveTo>
                  <a:pt x="0" y="0"/>
                </a:moveTo>
                <a:lnTo>
                  <a:pt x="1067277" y="0"/>
                </a:lnTo>
                <a:lnTo>
                  <a:pt x="1067277" y="1396568"/>
                </a:lnTo>
                <a:lnTo>
                  <a:pt x="0" y="1396568"/>
                </a:lnTo>
                <a:lnTo>
                  <a:pt x="0" y="0"/>
                </a:lnTo>
                <a:close/>
              </a:path>
            </a:pathLst>
          </a:custGeom>
          <a:blipFill>
            <a:blip r:embed="rId14"/>
            <a:stretch>
              <a:fillRect/>
            </a:stretch>
          </a:blipFill>
        </p:spPr>
      </p:sp>
      <p:sp>
        <p:nvSpPr>
          <p:cNvPr id="15" name="Freeform 15"/>
          <p:cNvSpPr/>
          <p:nvPr/>
        </p:nvSpPr>
        <p:spPr>
          <a:xfrm>
            <a:off x="15499959" y="6032941"/>
            <a:ext cx="2150343" cy="1272904"/>
          </a:xfrm>
          <a:custGeom>
            <a:avLst/>
            <a:gdLst/>
            <a:ahLst/>
            <a:cxnLst/>
            <a:rect l="l" t="t" r="r" b="b"/>
            <a:pathLst>
              <a:path w="2150343" h="1272904">
                <a:moveTo>
                  <a:pt x="0" y="0"/>
                </a:moveTo>
                <a:lnTo>
                  <a:pt x="2150343" y="0"/>
                </a:lnTo>
                <a:lnTo>
                  <a:pt x="2150343" y="1272904"/>
                </a:lnTo>
                <a:lnTo>
                  <a:pt x="0" y="1272904"/>
                </a:lnTo>
                <a:lnTo>
                  <a:pt x="0" y="0"/>
                </a:lnTo>
                <a:close/>
              </a:path>
            </a:pathLst>
          </a:custGeom>
          <a:blipFill>
            <a:blip r:embed="rId15"/>
            <a:stretch>
              <a:fillRect/>
            </a:stretch>
          </a:blipFill>
        </p:spPr>
      </p:sp>
      <p:sp>
        <p:nvSpPr>
          <p:cNvPr id="16" name="Freeform 16"/>
          <p:cNvSpPr/>
          <p:nvPr/>
        </p:nvSpPr>
        <p:spPr>
          <a:xfrm>
            <a:off x="14615566" y="6191167"/>
            <a:ext cx="1116384" cy="1211820"/>
          </a:xfrm>
          <a:custGeom>
            <a:avLst/>
            <a:gdLst/>
            <a:ahLst/>
            <a:cxnLst/>
            <a:rect l="l" t="t" r="r" b="b"/>
            <a:pathLst>
              <a:path w="1116384" h="1211820">
                <a:moveTo>
                  <a:pt x="0" y="0"/>
                </a:moveTo>
                <a:lnTo>
                  <a:pt x="1116384" y="0"/>
                </a:lnTo>
                <a:lnTo>
                  <a:pt x="1116384" y="1211820"/>
                </a:lnTo>
                <a:lnTo>
                  <a:pt x="0" y="1211820"/>
                </a:lnTo>
                <a:lnTo>
                  <a:pt x="0" y="0"/>
                </a:lnTo>
                <a:close/>
              </a:path>
            </a:pathLst>
          </a:custGeom>
          <a:blipFill>
            <a:blip r:embed="rId16"/>
            <a:stretch>
              <a:fillRect/>
            </a:stretch>
          </a:blipFill>
        </p:spPr>
      </p:sp>
      <p:sp>
        <p:nvSpPr>
          <p:cNvPr id="17" name="Freeform 17"/>
          <p:cNvSpPr/>
          <p:nvPr/>
        </p:nvSpPr>
        <p:spPr>
          <a:xfrm>
            <a:off x="13124639" y="5512064"/>
            <a:ext cx="934957" cy="2626594"/>
          </a:xfrm>
          <a:custGeom>
            <a:avLst/>
            <a:gdLst/>
            <a:ahLst/>
            <a:cxnLst/>
            <a:rect l="l" t="t" r="r" b="b"/>
            <a:pathLst>
              <a:path w="934957" h="2626594">
                <a:moveTo>
                  <a:pt x="0" y="0"/>
                </a:moveTo>
                <a:lnTo>
                  <a:pt x="934957" y="0"/>
                </a:lnTo>
                <a:lnTo>
                  <a:pt x="934957" y="2626594"/>
                </a:lnTo>
                <a:lnTo>
                  <a:pt x="0" y="2626594"/>
                </a:lnTo>
                <a:lnTo>
                  <a:pt x="0" y="0"/>
                </a:lnTo>
                <a:close/>
              </a:path>
            </a:pathLst>
          </a:custGeom>
          <a:blipFill>
            <a:blip r:embed="rId17"/>
            <a:stretch>
              <a:fillRect/>
            </a:stretch>
          </a:blipFill>
        </p:spPr>
      </p:sp>
      <p:sp>
        <p:nvSpPr>
          <p:cNvPr id="18" name="Freeform 18"/>
          <p:cNvSpPr/>
          <p:nvPr/>
        </p:nvSpPr>
        <p:spPr>
          <a:xfrm>
            <a:off x="11236105" y="7885256"/>
            <a:ext cx="1655682" cy="1089332"/>
          </a:xfrm>
          <a:custGeom>
            <a:avLst/>
            <a:gdLst/>
            <a:ahLst/>
            <a:cxnLst/>
            <a:rect l="l" t="t" r="r" b="b"/>
            <a:pathLst>
              <a:path w="1655682" h="1089332">
                <a:moveTo>
                  <a:pt x="0" y="0"/>
                </a:moveTo>
                <a:lnTo>
                  <a:pt x="1655682" y="0"/>
                </a:lnTo>
                <a:lnTo>
                  <a:pt x="1655682" y="1089332"/>
                </a:lnTo>
                <a:lnTo>
                  <a:pt x="0" y="1089332"/>
                </a:lnTo>
                <a:lnTo>
                  <a:pt x="0" y="0"/>
                </a:lnTo>
                <a:close/>
              </a:path>
            </a:pathLst>
          </a:custGeom>
          <a:blipFill>
            <a:blip r:embed="rId18"/>
            <a:stretch>
              <a:fillRect/>
            </a:stretch>
          </a:blipFill>
        </p:spPr>
      </p:sp>
      <p:sp>
        <p:nvSpPr>
          <p:cNvPr id="19" name="Freeform 19"/>
          <p:cNvSpPr/>
          <p:nvPr/>
        </p:nvSpPr>
        <p:spPr>
          <a:xfrm>
            <a:off x="11499786" y="6398197"/>
            <a:ext cx="1164215" cy="945924"/>
          </a:xfrm>
          <a:custGeom>
            <a:avLst/>
            <a:gdLst/>
            <a:ahLst/>
            <a:cxnLst/>
            <a:rect l="l" t="t" r="r" b="b"/>
            <a:pathLst>
              <a:path w="1164215" h="945924">
                <a:moveTo>
                  <a:pt x="0" y="0"/>
                </a:moveTo>
                <a:lnTo>
                  <a:pt x="1164215" y="0"/>
                </a:lnTo>
                <a:lnTo>
                  <a:pt x="1164215" y="945924"/>
                </a:lnTo>
                <a:lnTo>
                  <a:pt x="0" y="945924"/>
                </a:lnTo>
                <a:lnTo>
                  <a:pt x="0" y="0"/>
                </a:lnTo>
                <a:close/>
              </a:path>
            </a:pathLst>
          </a:custGeom>
          <a:blipFill>
            <a:blip r:embed="rId19"/>
            <a:stretch>
              <a:fillRect/>
            </a:stretch>
          </a:blipFill>
        </p:spPr>
      </p:sp>
      <p:sp>
        <p:nvSpPr>
          <p:cNvPr id="20" name="TextBox 20"/>
          <p:cNvSpPr txBox="1"/>
          <p:nvPr/>
        </p:nvSpPr>
        <p:spPr>
          <a:xfrm>
            <a:off x="1028700" y="3327019"/>
            <a:ext cx="6573042" cy="2095500"/>
          </a:xfrm>
          <a:prstGeom prst="rect">
            <a:avLst/>
          </a:prstGeom>
        </p:spPr>
        <p:txBody>
          <a:bodyPr lIns="0" tIns="0" rIns="0" bIns="0" rtlCol="0" anchor="t">
            <a:spAutoFit/>
          </a:bodyPr>
          <a:lstStyle/>
          <a:p>
            <a:pPr marL="0" lvl="0" indent="0" algn="l">
              <a:lnSpc>
                <a:spcPts val="7800"/>
              </a:lnSpc>
            </a:pPr>
            <a:r>
              <a:rPr lang="en-US" sz="7500" b="1">
                <a:solidFill>
                  <a:srgbClr val="0C5BF5"/>
                </a:solidFill>
                <a:latin typeface="Poppins Bold"/>
                <a:ea typeface="Poppins Bold"/>
                <a:cs typeface="Poppins Bold"/>
                <a:sym typeface="Poppins Bold"/>
              </a:rPr>
              <a:t>Technologies Used</a:t>
            </a:r>
          </a:p>
        </p:txBody>
      </p:sp>
      <p:sp>
        <p:nvSpPr>
          <p:cNvPr id="21" name="TextBox 21"/>
          <p:cNvSpPr txBox="1"/>
          <p:nvPr/>
        </p:nvSpPr>
        <p:spPr>
          <a:xfrm>
            <a:off x="1028700" y="7590238"/>
            <a:ext cx="7056941" cy="1106087"/>
          </a:xfrm>
          <a:prstGeom prst="rect">
            <a:avLst/>
          </a:prstGeom>
        </p:spPr>
        <p:txBody>
          <a:bodyPr lIns="0" tIns="0" rIns="0" bIns="0" rtlCol="0" anchor="t">
            <a:spAutoFit/>
          </a:bodyPr>
          <a:lstStyle/>
          <a:p>
            <a:pPr marL="0" lvl="0" indent="0" algn="l">
              <a:lnSpc>
                <a:spcPts val="4449"/>
              </a:lnSpc>
            </a:pPr>
            <a:r>
              <a:rPr lang="en-US" sz="2527">
                <a:solidFill>
                  <a:srgbClr val="000000"/>
                </a:solidFill>
                <a:latin typeface="Poppins"/>
                <a:ea typeface="Poppins"/>
                <a:cs typeface="Poppins"/>
                <a:sym typeface="Poppins"/>
              </a:rPr>
              <a:t>The core tools and frameworks powering our AI Bookkeeping Dashboard project.</a:t>
            </a:r>
          </a:p>
        </p:txBody>
      </p:sp>
      <p:sp>
        <p:nvSpPr>
          <p:cNvPr id="22" name="TextBox 22"/>
          <p:cNvSpPr txBox="1"/>
          <p:nvPr/>
        </p:nvSpPr>
        <p:spPr>
          <a:xfrm>
            <a:off x="13142458" y="933450"/>
            <a:ext cx="4670623" cy="1156345"/>
          </a:xfrm>
          <a:prstGeom prst="rect">
            <a:avLst/>
          </a:prstGeom>
        </p:spPr>
        <p:txBody>
          <a:bodyPr lIns="0" tIns="0" rIns="0" bIns="0" rtlCol="0" anchor="t">
            <a:spAutoFit/>
          </a:bodyPr>
          <a:lstStyle/>
          <a:p>
            <a:pPr marL="0" lvl="0" indent="0" algn="r">
              <a:lnSpc>
                <a:spcPts val="4514"/>
              </a:lnSpc>
            </a:pPr>
            <a:r>
              <a:rPr lang="en-US" sz="3224">
                <a:solidFill>
                  <a:srgbClr val="0C5BF5"/>
                </a:solidFill>
                <a:latin typeface="Poppins"/>
                <a:ea typeface="Poppins"/>
                <a:cs typeface="Poppins"/>
                <a:sym typeface="Poppins"/>
              </a:rPr>
              <a:t>AI Bookkeeping Dashboard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0852" y="1063128"/>
            <a:ext cx="443702" cy="435383"/>
          </a:xfrm>
          <a:custGeom>
            <a:avLst/>
            <a:gdLst/>
            <a:ahLst/>
            <a:cxnLst/>
            <a:rect l="l" t="t" r="r" b="b"/>
            <a:pathLst>
              <a:path w="443702" h="435383">
                <a:moveTo>
                  <a:pt x="0" y="0"/>
                </a:moveTo>
                <a:lnTo>
                  <a:pt x="443702" y="0"/>
                </a:lnTo>
                <a:lnTo>
                  <a:pt x="443702" y="435383"/>
                </a:lnTo>
                <a:lnTo>
                  <a:pt x="0" y="435383"/>
                </a:lnTo>
                <a:lnTo>
                  <a:pt x="0" y="0"/>
                </a:lnTo>
                <a:close/>
              </a:path>
            </a:pathLst>
          </a:custGeom>
          <a:blipFill>
            <a:blip r:embed="rId2"/>
            <a:stretch>
              <a:fillRect/>
            </a:stretch>
          </a:blipFill>
        </p:spPr>
      </p:sp>
      <p:grpSp>
        <p:nvGrpSpPr>
          <p:cNvPr id="3" name="Group 3"/>
          <p:cNvGrpSpPr/>
          <p:nvPr/>
        </p:nvGrpSpPr>
        <p:grpSpPr>
          <a:xfrm>
            <a:off x="9876423" y="1926683"/>
            <a:ext cx="7382877" cy="5240986"/>
            <a:chOff x="0" y="0"/>
            <a:chExt cx="1143801" cy="811966"/>
          </a:xfrm>
        </p:grpSpPr>
        <p:sp>
          <p:nvSpPr>
            <p:cNvPr id="4" name="Freeform 4"/>
            <p:cNvSpPr/>
            <p:nvPr/>
          </p:nvSpPr>
          <p:spPr>
            <a:xfrm>
              <a:off x="0" y="0"/>
              <a:ext cx="1143801" cy="811966"/>
            </a:xfrm>
            <a:custGeom>
              <a:avLst/>
              <a:gdLst/>
              <a:ahLst/>
              <a:cxnLst/>
              <a:rect l="l" t="t" r="r" b="b"/>
              <a:pathLst>
                <a:path w="1143801" h="811966">
                  <a:moveTo>
                    <a:pt x="0" y="0"/>
                  </a:moveTo>
                  <a:lnTo>
                    <a:pt x="1143801" y="0"/>
                  </a:lnTo>
                  <a:lnTo>
                    <a:pt x="1143801" y="811966"/>
                  </a:lnTo>
                  <a:lnTo>
                    <a:pt x="0" y="811966"/>
                  </a:lnTo>
                  <a:close/>
                </a:path>
              </a:pathLst>
            </a:custGeom>
            <a:blipFill>
              <a:blip r:embed="rId3"/>
              <a:stretch>
                <a:fillRect t="-2561" b="-2561"/>
              </a:stretch>
            </a:blipFill>
          </p:spPr>
        </p:sp>
      </p:grpSp>
      <p:sp>
        <p:nvSpPr>
          <p:cNvPr id="5" name="Freeform 5"/>
          <p:cNvSpPr/>
          <p:nvPr/>
        </p:nvSpPr>
        <p:spPr>
          <a:xfrm>
            <a:off x="12694494" y="7628047"/>
            <a:ext cx="1578637" cy="1592572"/>
          </a:xfrm>
          <a:custGeom>
            <a:avLst/>
            <a:gdLst/>
            <a:ahLst/>
            <a:cxnLst/>
            <a:rect l="l" t="t" r="r" b="b"/>
            <a:pathLst>
              <a:path w="1578637" h="1592572">
                <a:moveTo>
                  <a:pt x="0" y="0"/>
                </a:moveTo>
                <a:lnTo>
                  <a:pt x="1578637" y="0"/>
                </a:lnTo>
                <a:lnTo>
                  <a:pt x="1578637" y="1592572"/>
                </a:lnTo>
                <a:lnTo>
                  <a:pt x="0" y="1592572"/>
                </a:lnTo>
                <a:lnTo>
                  <a:pt x="0" y="0"/>
                </a:lnTo>
                <a:close/>
              </a:path>
            </a:pathLst>
          </a:custGeom>
          <a:blipFill>
            <a:blip r:embed="rId4"/>
            <a:stretch>
              <a:fillRect/>
            </a:stretch>
          </a:blipFill>
        </p:spPr>
      </p:sp>
      <p:sp>
        <p:nvSpPr>
          <p:cNvPr id="6" name="Freeform 6"/>
          <p:cNvSpPr/>
          <p:nvPr/>
        </p:nvSpPr>
        <p:spPr>
          <a:xfrm>
            <a:off x="14803442" y="7741619"/>
            <a:ext cx="1446406" cy="1437366"/>
          </a:xfrm>
          <a:custGeom>
            <a:avLst/>
            <a:gdLst/>
            <a:ahLst/>
            <a:cxnLst/>
            <a:rect l="l" t="t" r="r" b="b"/>
            <a:pathLst>
              <a:path w="1446406" h="1437366">
                <a:moveTo>
                  <a:pt x="0" y="0"/>
                </a:moveTo>
                <a:lnTo>
                  <a:pt x="1446407" y="0"/>
                </a:lnTo>
                <a:lnTo>
                  <a:pt x="1446407" y="1437366"/>
                </a:lnTo>
                <a:lnTo>
                  <a:pt x="0" y="1437366"/>
                </a:lnTo>
                <a:lnTo>
                  <a:pt x="0" y="0"/>
                </a:lnTo>
                <a:close/>
              </a:path>
            </a:pathLst>
          </a:custGeom>
          <a:blipFill>
            <a:blip r:embed="rId5"/>
            <a:stretch>
              <a:fillRect/>
            </a:stretch>
          </a:blipFill>
        </p:spPr>
      </p:sp>
      <p:sp>
        <p:nvSpPr>
          <p:cNvPr id="7" name="Freeform 7"/>
          <p:cNvSpPr/>
          <p:nvPr/>
        </p:nvSpPr>
        <p:spPr>
          <a:xfrm>
            <a:off x="10838218" y="7892977"/>
            <a:ext cx="1296680" cy="1296680"/>
          </a:xfrm>
          <a:custGeom>
            <a:avLst/>
            <a:gdLst/>
            <a:ahLst/>
            <a:cxnLst/>
            <a:rect l="l" t="t" r="r" b="b"/>
            <a:pathLst>
              <a:path w="1296680" h="1296680">
                <a:moveTo>
                  <a:pt x="0" y="0"/>
                </a:moveTo>
                <a:lnTo>
                  <a:pt x="1296680" y="0"/>
                </a:lnTo>
                <a:lnTo>
                  <a:pt x="1296680" y="1296680"/>
                </a:lnTo>
                <a:lnTo>
                  <a:pt x="0" y="1296680"/>
                </a:lnTo>
                <a:lnTo>
                  <a:pt x="0" y="0"/>
                </a:lnTo>
                <a:close/>
              </a:path>
            </a:pathLst>
          </a:custGeom>
          <a:blipFill>
            <a:blip r:embed="rId6"/>
            <a:stretch>
              <a:fillRect/>
            </a:stretch>
          </a:blipFill>
        </p:spPr>
      </p:sp>
      <p:sp>
        <p:nvSpPr>
          <p:cNvPr id="8" name="TextBox 8"/>
          <p:cNvSpPr txBox="1"/>
          <p:nvPr/>
        </p:nvSpPr>
        <p:spPr>
          <a:xfrm>
            <a:off x="12588677" y="942975"/>
            <a:ext cx="4670623" cy="492778"/>
          </a:xfrm>
          <a:prstGeom prst="rect">
            <a:avLst/>
          </a:prstGeom>
        </p:spPr>
        <p:txBody>
          <a:bodyPr lIns="0" tIns="0" rIns="0" bIns="0" rtlCol="0" anchor="t">
            <a:spAutoFit/>
          </a:bodyPr>
          <a:lstStyle/>
          <a:p>
            <a:pPr marL="0" lvl="0" indent="0" algn="r">
              <a:lnSpc>
                <a:spcPts val="3813"/>
              </a:lnSpc>
            </a:pPr>
            <a:r>
              <a:rPr lang="en-US" sz="2724">
                <a:solidFill>
                  <a:srgbClr val="0C5BF5"/>
                </a:solidFill>
                <a:latin typeface="Poppins"/>
                <a:ea typeface="Poppins"/>
                <a:cs typeface="Poppins"/>
                <a:sym typeface="Poppins"/>
              </a:rPr>
              <a:t>AI Bookkeeping Dashboard</a:t>
            </a:r>
          </a:p>
        </p:txBody>
      </p:sp>
      <p:grpSp>
        <p:nvGrpSpPr>
          <p:cNvPr id="9" name="Group 9"/>
          <p:cNvGrpSpPr/>
          <p:nvPr/>
        </p:nvGrpSpPr>
        <p:grpSpPr>
          <a:xfrm>
            <a:off x="1028700" y="5650511"/>
            <a:ext cx="155813" cy="15581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F5"/>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marL="0" lvl="0" indent="0" algn="ctr">
                <a:lnSpc>
                  <a:spcPts val="2940"/>
                </a:lnSpc>
              </a:pPr>
              <a:endParaRPr/>
            </a:p>
          </p:txBody>
        </p:sp>
      </p:grpSp>
      <p:grpSp>
        <p:nvGrpSpPr>
          <p:cNvPr id="12" name="Group 12"/>
          <p:cNvGrpSpPr/>
          <p:nvPr/>
        </p:nvGrpSpPr>
        <p:grpSpPr>
          <a:xfrm>
            <a:off x="1028700" y="6369310"/>
            <a:ext cx="155813" cy="15581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F5"/>
            </a:solidFill>
          </p:spPr>
        </p:sp>
        <p:sp>
          <p:nvSpPr>
            <p:cNvPr id="14" name="TextBox 14"/>
            <p:cNvSpPr txBox="1"/>
            <p:nvPr/>
          </p:nvSpPr>
          <p:spPr>
            <a:xfrm>
              <a:off x="76200" y="19050"/>
              <a:ext cx="660400" cy="717550"/>
            </a:xfrm>
            <a:prstGeom prst="rect">
              <a:avLst/>
            </a:prstGeom>
          </p:spPr>
          <p:txBody>
            <a:bodyPr lIns="50800" tIns="50800" rIns="50800" bIns="50800" rtlCol="0" anchor="ctr"/>
            <a:lstStyle/>
            <a:p>
              <a:pPr marL="0" lvl="0" indent="0" algn="ctr">
                <a:lnSpc>
                  <a:spcPts val="2940"/>
                </a:lnSpc>
              </a:pPr>
              <a:endParaRPr/>
            </a:p>
          </p:txBody>
        </p:sp>
      </p:grpSp>
      <p:grpSp>
        <p:nvGrpSpPr>
          <p:cNvPr id="15" name="Group 15"/>
          <p:cNvGrpSpPr/>
          <p:nvPr/>
        </p:nvGrpSpPr>
        <p:grpSpPr>
          <a:xfrm>
            <a:off x="1028700" y="7085648"/>
            <a:ext cx="155813" cy="15581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F5"/>
            </a:solidFill>
          </p:spPr>
        </p:sp>
        <p:sp>
          <p:nvSpPr>
            <p:cNvPr id="17" name="TextBox 17"/>
            <p:cNvSpPr txBox="1"/>
            <p:nvPr/>
          </p:nvSpPr>
          <p:spPr>
            <a:xfrm>
              <a:off x="76200" y="19050"/>
              <a:ext cx="660400" cy="717550"/>
            </a:xfrm>
            <a:prstGeom prst="rect">
              <a:avLst/>
            </a:prstGeom>
          </p:spPr>
          <p:txBody>
            <a:bodyPr lIns="50800" tIns="50800" rIns="50800" bIns="50800" rtlCol="0" anchor="ctr"/>
            <a:lstStyle/>
            <a:p>
              <a:pPr marL="0" lvl="0" indent="0" algn="ctr">
                <a:lnSpc>
                  <a:spcPts val="2940"/>
                </a:lnSpc>
              </a:pPr>
              <a:endParaRPr/>
            </a:p>
          </p:txBody>
        </p:sp>
      </p:grpSp>
      <p:sp>
        <p:nvSpPr>
          <p:cNvPr id="18" name="TextBox 18"/>
          <p:cNvSpPr txBox="1"/>
          <p:nvPr/>
        </p:nvSpPr>
        <p:spPr>
          <a:xfrm>
            <a:off x="1028700" y="2432825"/>
            <a:ext cx="8372459" cy="2631305"/>
          </a:xfrm>
          <a:prstGeom prst="rect">
            <a:avLst/>
          </a:prstGeom>
        </p:spPr>
        <p:txBody>
          <a:bodyPr lIns="0" tIns="0" rIns="0" bIns="0" rtlCol="0" anchor="t">
            <a:spAutoFit/>
          </a:bodyPr>
          <a:lstStyle/>
          <a:p>
            <a:pPr marL="0" lvl="0" indent="0" algn="l">
              <a:lnSpc>
                <a:spcPts val="9873"/>
              </a:lnSpc>
            </a:pPr>
            <a:r>
              <a:rPr lang="en-US" sz="9493" b="1">
                <a:solidFill>
                  <a:srgbClr val="0C5BF5"/>
                </a:solidFill>
                <a:latin typeface="Poppins Bold"/>
                <a:ea typeface="Poppins Bold"/>
                <a:cs typeface="Poppins Bold"/>
                <a:sym typeface="Poppins Bold"/>
              </a:rPr>
              <a:t>System Workflow</a:t>
            </a:r>
          </a:p>
        </p:txBody>
      </p:sp>
      <p:sp>
        <p:nvSpPr>
          <p:cNvPr id="19" name="TextBox 19"/>
          <p:cNvSpPr txBox="1"/>
          <p:nvPr/>
        </p:nvSpPr>
        <p:spPr>
          <a:xfrm>
            <a:off x="1331703" y="5470261"/>
            <a:ext cx="6750479" cy="410205"/>
          </a:xfrm>
          <a:prstGeom prst="rect">
            <a:avLst/>
          </a:prstGeom>
        </p:spPr>
        <p:txBody>
          <a:bodyPr lIns="0" tIns="0" rIns="0" bIns="0" rtlCol="0" anchor="t">
            <a:spAutoFit/>
          </a:bodyPr>
          <a:lstStyle/>
          <a:p>
            <a:pPr marL="0" lvl="0" indent="0" algn="l">
              <a:lnSpc>
                <a:spcPts val="3184"/>
              </a:lnSpc>
              <a:spcBef>
                <a:spcPct val="0"/>
              </a:spcBef>
            </a:pPr>
            <a:r>
              <a:rPr lang="en-US" sz="2274">
                <a:solidFill>
                  <a:srgbClr val="000000"/>
                </a:solidFill>
                <a:latin typeface="Poppins"/>
                <a:ea typeface="Poppins"/>
                <a:cs typeface="Poppins"/>
                <a:sym typeface="Poppins"/>
              </a:rPr>
              <a:t>User inputs transactions in React frontend</a:t>
            </a:r>
          </a:p>
        </p:txBody>
      </p:sp>
      <p:sp>
        <p:nvSpPr>
          <p:cNvPr id="20" name="TextBox 20"/>
          <p:cNvSpPr txBox="1"/>
          <p:nvPr/>
        </p:nvSpPr>
        <p:spPr>
          <a:xfrm>
            <a:off x="1331703" y="6189060"/>
            <a:ext cx="6750479" cy="410205"/>
          </a:xfrm>
          <a:prstGeom prst="rect">
            <a:avLst/>
          </a:prstGeom>
        </p:spPr>
        <p:txBody>
          <a:bodyPr lIns="0" tIns="0" rIns="0" bIns="0" rtlCol="0" anchor="t">
            <a:spAutoFit/>
          </a:bodyPr>
          <a:lstStyle/>
          <a:p>
            <a:pPr marL="0" lvl="0" indent="0" algn="l">
              <a:lnSpc>
                <a:spcPts val="3184"/>
              </a:lnSpc>
              <a:spcBef>
                <a:spcPct val="0"/>
              </a:spcBef>
            </a:pPr>
            <a:r>
              <a:rPr lang="en-US" sz="2274">
                <a:solidFill>
                  <a:srgbClr val="000000"/>
                </a:solidFill>
                <a:latin typeface="Poppins"/>
                <a:ea typeface="Poppins"/>
                <a:cs typeface="Poppins"/>
                <a:sym typeface="Poppins"/>
              </a:rPr>
              <a:t>Data sent via REST API to Flask backend</a:t>
            </a:r>
          </a:p>
        </p:txBody>
      </p:sp>
      <p:sp>
        <p:nvSpPr>
          <p:cNvPr id="21" name="TextBox 21"/>
          <p:cNvSpPr txBox="1"/>
          <p:nvPr/>
        </p:nvSpPr>
        <p:spPr>
          <a:xfrm>
            <a:off x="1331703" y="6905398"/>
            <a:ext cx="6750479" cy="410205"/>
          </a:xfrm>
          <a:prstGeom prst="rect">
            <a:avLst/>
          </a:prstGeom>
        </p:spPr>
        <p:txBody>
          <a:bodyPr lIns="0" tIns="0" rIns="0" bIns="0" rtlCol="0" anchor="t">
            <a:spAutoFit/>
          </a:bodyPr>
          <a:lstStyle/>
          <a:p>
            <a:pPr marL="0" lvl="0" indent="0" algn="l">
              <a:lnSpc>
                <a:spcPts val="3184"/>
              </a:lnSpc>
              <a:spcBef>
                <a:spcPct val="0"/>
              </a:spcBef>
            </a:pPr>
            <a:r>
              <a:rPr lang="en-US" sz="2274">
                <a:solidFill>
                  <a:srgbClr val="000000"/>
                </a:solidFill>
                <a:latin typeface="Poppins"/>
                <a:ea typeface="Poppins"/>
                <a:cs typeface="Poppins"/>
                <a:sym typeface="Poppins"/>
              </a:rPr>
              <a:t>AI engine analyzes for duplicates &amp; risk</a:t>
            </a:r>
          </a:p>
        </p:txBody>
      </p:sp>
      <p:sp>
        <p:nvSpPr>
          <p:cNvPr id="22" name="TextBox 22"/>
          <p:cNvSpPr txBox="1"/>
          <p:nvPr/>
        </p:nvSpPr>
        <p:spPr>
          <a:xfrm>
            <a:off x="1028700" y="7831231"/>
            <a:ext cx="8115300" cy="1409102"/>
          </a:xfrm>
          <a:prstGeom prst="rect">
            <a:avLst/>
          </a:prstGeom>
        </p:spPr>
        <p:txBody>
          <a:bodyPr lIns="0" tIns="0" rIns="0" bIns="0" rtlCol="0" anchor="t">
            <a:spAutoFit/>
          </a:bodyPr>
          <a:lstStyle/>
          <a:p>
            <a:pPr marL="0" lvl="0" indent="0" algn="l">
              <a:lnSpc>
                <a:spcPts val="2791"/>
              </a:lnSpc>
            </a:pPr>
            <a:r>
              <a:rPr lang="en-US" sz="1993" b="1">
                <a:solidFill>
                  <a:srgbClr val="0C5BF5"/>
                </a:solidFill>
                <a:latin typeface="Poppins Medium"/>
                <a:ea typeface="Poppins Medium"/>
                <a:cs typeface="Poppins Medium"/>
                <a:sym typeface="Poppins Medium"/>
              </a:rPr>
              <a:t>Risk classifications and summary results returned to dashboard.</a:t>
            </a:r>
          </a:p>
          <a:p>
            <a:pPr marL="0" lvl="0" indent="0" algn="l">
              <a:lnSpc>
                <a:spcPts val="2791"/>
              </a:lnSpc>
            </a:pPr>
            <a:r>
              <a:rPr lang="en-US" sz="1993" b="1">
                <a:solidFill>
                  <a:srgbClr val="0C5BF5"/>
                </a:solidFill>
                <a:latin typeface="Poppins Medium"/>
                <a:ea typeface="Poppins Medium"/>
                <a:cs typeface="Poppins Medium"/>
                <a:sym typeface="Poppins Medium"/>
              </a:rPr>
              <a:t>Complete flow: User → Frontend → Backend → AI Engine →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70220" y="996253"/>
            <a:ext cx="404755" cy="543576"/>
          </a:xfrm>
          <a:custGeom>
            <a:avLst/>
            <a:gdLst/>
            <a:ahLst/>
            <a:cxnLst/>
            <a:rect l="l" t="t" r="r" b="b"/>
            <a:pathLst>
              <a:path w="404755" h="543576">
                <a:moveTo>
                  <a:pt x="0" y="0"/>
                </a:moveTo>
                <a:lnTo>
                  <a:pt x="404755" y="0"/>
                </a:lnTo>
                <a:lnTo>
                  <a:pt x="404755" y="543576"/>
                </a:lnTo>
                <a:lnTo>
                  <a:pt x="0" y="543576"/>
                </a:lnTo>
                <a:lnTo>
                  <a:pt x="0" y="0"/>
                </a:lnTo>
                <a:close/>
              </a:path>
            </a:pathLst>
          </a:custGeom>
          <a:blipFill>
            <a:blip r:embed="rId2"/>
            <a:stretch>
              <a:fillRect/>
            </a:stretch>
          </a:blipFill>
        </p:spPr>
      </p:sp>
      <p:grpSp>
        <p:nvGrpSpPr>
          <p:cNvPr id="3" name="Group 3"/>
          <p:cNvGrpSpPr/>
          <p:nvPr/>
        </p:nvGrpSpPr>
        <p:grpSpPr>
          <a:xfrm>
            <a:off x="9876423" y="1926683"/>
            <a:ext cx="7382877" cy="5240986"/>
            <a:chOff x="0" y="0"/>
            <a:chExt cx="1143801" cy="811966"/>
          </a:xfrm>
        </p:grpSpPr>
        <p:sp>
          <p:nvSpPr>
            <p:cNvPr id="4" name="Freeform 4"/>
            <p:cNvSpPr/>
            <p:nvPr/>
          </p:nvSpPr>
          <p:spPr>
            <a:xfrm>
              <a:off x="0" y="0"/>
              <a:ext cx="1143801" cy="811966"/>
            </a:xfrm>
            <a:custGeom>
              <a:avLst/>
              <a:gdLst/>
              <a:ahLst/>
              <a:cxnLst/>
              <a:rect l="l" t="t" r="r" b="b"/>
              <a:pathLst>
                <a:path w="1143801" h="811966">
                  <a:moveTo>
                    <a:pt x="0" y="0"/>
                  </a:moveTo>
                  <a:lnTo>
                    <a:pt x="1143801" y="0"/>
                  </a:lnTo>
                  <a:lnTo>
                    <a:pt x="1143801" y="811966"/>
                  </a:lnTo>
                  <a:lnTo>
                    <a:pt x="0" y="811966"/>
                  </a:lnTo>
                  <a:close/>
                </a:path>
              </a:pathLst>
            </a:custGeom>
            <a:blipFill>
              <a:blip r:embed="rId3"/>
              <a:stretch>
                <a:fillRect t="-2561" b="-2561"/>
              </a:stretch>
            </a:blipFill>
          </p:spPr>
        </p:sp>
      </p:grpSp>
      <p:sp>
        <p:nvSpPr>
          <p:cNvPr id="5" name="Freeform 5"/>
          <p:cNvSpPr/>
          <p:nvPr/>
        </p:nvSpPr>
        <p:spPr>
          <a:xfrm>
            <a:off x="12465599" y="7677892"/>
            <a:ext cx="1970139" cy="1601361"/>
          </a:xfrm>
          <a:custGeom>
            <a:avLst/>
            <a:gdLst/>
            <a:ahLst/>
            <a:cxnLst/>
            <a:rect l="l" t="t" r="r" b="b"/>
            <a:pathLst>
              <a:path w="1970139" h="1601361">
                <a:moveTo>
                  <a:pt x="0" y="0"/>
                </a:moveTo>
                <a:lnTo>
                  <a:pt x="1970139" y="0"/>
                </a:lnTo>
                <a:lnTo>
                  <a:pt x="1970139" y="1601361"/>
                </a:lnTo>
                <a:lnTo>
                  <a:pt x="0" y="1601361"/>
                </a:lnTo>
                <a:lnTo>
                  <a:pt x="0" y="0"/>
                </a:lnTo>
                <a:close/>
              </a:path>
            </a:pathLst>
          </a:custGeom>
          <a:blipFill>
            <a:blip r:embed="rId4"/>
            <a:stretch>
              <a:fillRect/>
            </a:stretch>
          </a:blipFill>
        </p:spPr>
      </p:sp>
      <p:sp>
        <p:nvSpPr>
          <p:cNvPr id="6" name="Freeform 6"/>
          <p:cNvSpPr/>
          <p:nvPr/>
        </p:nvSpPr>
        <p:spPr>
          <a:xfrm>
            <a:off x="14464097" y="7760218"/>
            <a:ext cx="2138448" cy="1395118"/>
          </a:xfrm>
          <a:custGeom>
            <a:avLst/>
            <a:gdLst/>
            <a:ahLst/>
            <a:cxnLst/>
            <a:rect l="l" t="t" r="r" b="b"/>
            <a:pathLst>
              <a:path w="2138448" h="1395118">
                <a:moveTo>
                  <a:pt x="0" y="0"/>
                </a:moveTo>
                <a:lnTo>
                  <a:pt x="2138448" y="0"/>
                </a:lnTo>
                <a:lnTo>
                  <a:pt x="2138448" y="1395117"/>
                </a:lnTo>
                <a:lnTo>
                  <a:pt x="0" y="1395117"/>
                </a:lnTo>
                <a:lnTo>
                  <a:pt x="0" y="0"/>
                </a:lnTo>
                <a:close/>
              </a:path>
            </a:pathLst>
          </a:custGeom>
          <a:blipFill>
            <a:blip r:embed="rId5"/>
            <a:stretch>
              <a:fillRect/>
            </a:stretch>
          </a:blipFill>
        </p:spPr>
      </p:sp>
      <p:sp>
        <p:nvSpPr>
          <p:cNvPr id="7" name="Freeform 7"/>
          <p:cNvSpPr/>
          <p:nvPr/>
        </p:nvSpPr>
        <p:spPr>
          <a:xfrm>
            <a:off x="10825114" y="7879668"/>
            <a:ext cx="1323779" cy="1323779"/>
          </a:xfrm>
          <a:custGeom>
            <a:avLst/>
            <a:gdLst/>
            <a:ahLst/>
            <a:cxnLst/>
            <a:rect l="l" t="t" r="r" b="b"/>
            <a:pathLst>
              <a:path w="1323779" h="1323779">
                <a:moveTo>
                  <a:pt x="0" y="0"/>
                </a:moveTo>
                <a:lnTo>
                  <a:pt x="1323778" y="0"/>
                </a:lnTo>
                <a:lnTo>
                  <a:pt x="1323778" y="1323779"/>
                </a:lnTo>
                <a:lnTo>
                  <a:pt x="0" y="1323779"/>
                </a:lnTo>
                <a:lnTo>
                  <a:pt x="0" y="0"/>
                </a:lnTo>
                <a:close/>
              </a:path>
            </a:pathLst>
          </a:custGeom>
          <a:blipFill>
            <a:blip r:embed="rId6"/>
            <a:stretch>
              <a:fillRect/>
            </a:stretch>
          </a:blipFill>
        </p:spPr>
      </p:sp>
      <p:sp>
        <p:nvSpPr>
          <p:cNvPr id="8" name="TextBox 8"/>
          <p:cNvSpPr txBox="1"/>
          <p:nvPr/>
        </p:nvSpPr>
        <p:spPr>
          <a:xfrm>
            <a:off x="12588677" y="942975"/>
            <a:ext cx="4670623" cy="492778"/>
          </a:xfrm>
          <a:prstGeom prst="rect">
            <a:avLst/>
          </a:prstGeom>
        </p:spPr>
        <p:txBody>
          <a:bodyPr lIns="0" tIns="0" rIns="0" bIns="0" rtlCol="0" anchor="t">
            <a:spAutoFit/>
          </a:bodyPr>
          <a:lstStyle/>
          <a:p>
            <a:pPr marL="0" lvl="0" indent="0" algn="r">
              <a:lnSpc>
                <a:spcPts val="3813"/>
              </a:lnSpc>
            </a:pPr>
            <a:r>
              <a:rPr lang="en-US" sz="2724">
                <a:solidFill>
                  <a:srgbClr val="0C5BF5"/>
                </a:solidFill>
                <a:latin typeface="Poppins"/>
                <a:ea typeface="Poppins"/>
                <a:cs typeface="Poppins"/>
                <a:sym typeface="Poppins"/>
              </a:rPr>
              <a:t>AI Bookkeeping Dashboard</a:t>
            </a:r>
          </a:p>
        </p:txBody>
      </p:sp>
      <p:grpSp>
        <p:nvGrpSpPr>
          <p:cNvPr id="9" name="Group 9"/>
          <p:cNvGrpSpPr/>
          <p:nvPr/>
        </p:nvGrpSpPr>
        <p:grpSpPr>
          <a:xfrm>
            <a:off x="1028700" y="5650511"/>
            <a:ext cx="155813" cy="15581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F5"/>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marL="0" lvl="0" indent="0" algn="ctr">
                <a:lnSpc>
                  <a:spcPts val="2940"/>
                </a:lnSpc>
              </a:pPr>
              <a:endParaRPr/>
            </a:p>
          </p:txBody>
        </p:sp>
      </p:grpSp>
      <p:grpSp>
        <p:nvGrpSpPr>
          <p:cNvPr id="12" name="Group 12"/>
          <p:cNvGrpSpPr/>
          <p:nvPr/>
        </p:nvGrpSpPr>
        <p:grpSpPr>
          <a:xfrm>
            <a:off x="1028700" y="6369310"/>
            <a:ext cx="155813" cy="15581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F5"/>
            </a:solidFill>
          </p:spPr>
        </p:sp>
        <p:sp>
          <p:nvSpPr>
            <p:cNvPr id="14" name="TextBox 14"/>
            <p:cNvSpPr txBox="1"/>
            <p:nvPr/>
          </p:nvSpPr>
          <p:spPr>
            <a:xfrm>
              <a:off x="76200" y="19050"/>
              <a:ext cx="660400" cy="717550"/>
            </a:xfrm>
            <a:prstGeom prst="rect">
              <a:avLst/>
            </a:prstGeom>
          </p:spPr>
          <p:txBody>
            <a:bodyPr lIns="50800" tIns="50800" rIns="50800" bIns="50800" rtlCol="0" anchor="ctr"/>
            <a:lstStyle/>
            <a:p>
              <a:pPr marL="0" lvl="0" indent="0" algn="ctr">
                <a:lnSpc>
                  <a:spcPts val="2940"/>
                </a:lnSpc>
              </a:pPr>
              <a:endParaRPr/>
            </a:p>
          </p:txBody>
        </p:sp>
      </p:grpSp>
      <p:grpSp>
        <p:nvGrpSpPr>
          <p:cNvPr id="15" name="Group 15"/>
          <p:cNvGrpSpPr/>
          <p:nvPr/>
        </p:nvGrpSpPr>
        <p:grpSpPr>
          <a:xfrm>
            <a:off x="1028700" y="7085648"/>
            <a:ext cx="155813" cy="15581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F5"/>
            </a:solidFill>
          </p:spPr>
        </p:sp>
        <p:sp>
          <p:nvSpPr>
            <p:cNvPr id="17" name="TextBox 17"/>
            <p:cNvSpPr txBox="1"/>
            <p:nvPr/>
          </p:nvSpPr>
          <p:spPr>
            <a:xfrm>
              <a:off x="76200" y="19050"/>
              <a:ext cx="660400" cy="717550"/>
            </a:xfrm>
            <a:prstGeom prst="rect">
              <a:avLst/>
            </a:prstGeom>
          </p:spPr>
          <p:txBody>
            <a:bodyPr lIns="50800" tIns="50800" rIns="50800" bIns="50800" rtlCol="0" anchor="ctr"/>
            <a:lstStyle/>
            <a:p>
              <a:pPr marL="0" lvl="0" indent="0" algn="ctr">
                <a:lnSpc>
                  <a:spcPts val="2940"/>
                </a:lnSpc>
              </a:pPr>
              <a:endParaRPr/>
            </a:p>
          </p:txBody>
        </p:sp>
      </p:grpSp>
      <p:sp>
        <p:nvSpPr>
          <p:cNvPr id="18" name="TextBox 18"/>
          <p:cNvSpPr txBox="1"/>
          <p:nvPr/>
        </p:nvSpPr>
        <p:spPr>
          <a:xfrm>
            <a:off x="1028700" y="2432825"/>
            <a:ext cx="8372459" cy="1383666"/>
          </a:xfrm>
          <a:prstGeom prst="rect">
            <a:avLst/>
          </a:prstGeom>
        </p:spPr>
        <p:txBody>
          <a:bodyPr lIns="0" tIns="0" rIns="0" bIns="0" rtlCol="0" anchor="t">
            <a:spAutoFit/>
          </a:bodyPr>
          <a:lstStyle/>
          <a:p>
            <a:pPr marL="0" lvl="0" indent="0" algn="l">
              <a:lnSpc>
                <a:spcPts val="9880"/>
              </a:lnSpc>
            </a:pPr>
            <a:r>
              <a:rPr lang="en-US" sz="9500" b="1">
                <a:solidFill>
                  <a:srgbClr val="0C5BF5"/>
                </a:solidFill>
                <a:latin typeface="Poppins Bold"/>
                <a:ea typeface="Poppins Bold"/>
                <a:cs typeface="Poppins Bold"/>
                <a:sym typeface="Poppins Bold"/>
              </a:rPr>
              <a:t>Key Features</a:t>
            </a:r>
          </a:p>
        </p:txBody>
      </p:sp>
      <p:sp>
        <p:nvSpPr>
          <p:cNvPr id="19" name="TextBox 19"/>
          <p:cNvSpPr txBox="1"/>
          <p:nvPr/>
        </p:nvSpPr>
        <p:spPr>
          <a:xfrm>
            <a:off x="1331703" y="5460736"/>
            <a:ext cx="6750479" cy="459208"/>
          </a:xfrm>
          <a:prstGeom prst="rect">
            <a:avLst/>
          </a:prstGeom>
        </p:spPr>
        <p:txBody>
          <a:bodyPr lIns="0" tIns="0" rIns="0" bIns="0" rtlCol="0" anchor="t">
            <a:spAutoFit/>
          </a:bodyPr>
          <a:lstStyle/>
          <a:p>
            <a:pPr marL="0" lvl="0" indent="0" algn="l">
              <a:lnSpc>
                <a:spcPts val="3536"/>
              </a:lnSpc>
              <a:spcBef>
                <a:spcPct val="0"/>
              </a:spcBef>
            </a:pPr>
            <a:r>
              <a:rPr lang="en-US" sz="2526">
                <a:solidFill>
                  <a:srgbClr val="000000"/>
                </a:solidFill>
                <a:latin typeface="Poppins"/>
                <a:ea typeface="Poppins"/>
                <a:cs typeface="Poppins"/>
                <a:sym typeface="Poppins"/>
              </a:rPr>
              <a:t>Transaction entry and management</a:t>
            </a:r>
          </a:p>
        </p:txBody>
      </p:sp>
      <p:sp>
        <p:nvSpPr>
          <p:cNvPr id="20" name="TextBox 20"/>
          <p:cNvSpPr txBox="1"/>
          <p:nvPr/>
        </p:nvSpPr>
        <p:spPr>
          <a:xfrm>
            <a:off x="1331703" y="6179535"/>
            <a:ext cx="6750479" cy="459208"/>
          </a:xfrm>
          <a:prstGeom prst="rect">
            <a:avLst/>
          </a:prstGeom>
        </p:spPr>
        <p:txBody>
          <a:bodyPr lIns="0" tIns="0" rIns="0" bIns="0" rtlCol="0" anchor="t">
            <a:spAutoFit/>
          </a:bodyPr>
          <a:lstStyle/>
          <a:p>
            <a:pPr marL="0" lvl="0" indent="0" algn="l">
              <a:lnSpc>
                <a:spcPts val="3536"/>
              </a:lnSpc>
              <a:spcBef>
                <a:spcPct val="0"/>
              </a:spcBef>
            </a:pPr>
            <a:r>
              <a:rPr lang="en-US" sz="2526">
                <a:solidFill>
                  <a:srgbClr val="000000"/>
                </a:solidFill>
                <a:latin typeface="Poppins"/>
                <a:ea typeface="Poppins"/>
                <a:cs typeface="Poppins"/>
                <a:sym typeface="Poppins"/>
              </a:rPr>
              <a:t>Duplicate transaction detection</a:t>
            </a:r>
          </a:p>
        </p:txBody>
      </p:sp>
      <p:sp>
        <p:nvSpPr>
          <p:cNvPr id="21" name="TextBox 21"/>
          <p:cNvSpPr txBox="1"/>
          <p:nvPr/>
        </p:nvSpPr>
        <p:spPr>
          <a:xfrm>
            <a:off x="1331703" y="6895873"/>
            <a:ext cx="6750479" cy="459208"/>
          </a:xfrm>
          <a:prstGeom prst="rect">
            <a:avLst/>
          </a:prstGeom>
        </p:spPr>
        <p:txBody>
          <a:bodyPr lIns="0" tIns="0" rIns="0" bIns="0" rtlCol="0" anchor="t">
            <a:spAutoFit/>
          </a:bodyPr>
          <a:lstStyle/>
          <a:p>
            <a:pPr marL="0" lvl="0" indent="0" algn="l">
              <a:lnSpc>
                <a:spcPts val="3536"/>
              </a:lnSpc>
              <a:spcBef>
                <a:spcPct val="0"/>
              </a:spcBef>
            </a:pPr>
            <a:r>
              <a:rPr lang="en-US" sz="2526">
                <a:solidFill>
                  <a:srgbClr val="000000"/>
                </a:solidFill>
                <a:latin typeface="Poppins"/>
                <a:ea typeface="Poppins"/>
                <a:cs typeface="Poppins"/>
                <a:sym typeface="Poppins"/>
              </a:rPr>
              <a:t>High-value transaction detection</a:t>
            </a:r>
          </a:p>
        </p:txBody>
      </p:sp>
      <p:sp>
        <p:nvSpPr>
          <p:cNvPr id="22" name="TextBox 22"/>
          <p:cNvSpPr txBox="1"/>
          <p:nvPr/>
        </p:nvSpPr>
        <p:spPr>
          <a:xfrm>
            <a:off x="1028700" y="7831231"/>
            <a:ext cx="8115300" cy="1178087"/>
          </a:xfrm>
          <a:prstGeom prst="rect">
            <a:avLst/>
          </a:prstGeom>
        </p:spPr>
        <p:txBody>
          <a:bodyPr lIns="0" tIns="0" rIns="0" bIns="0" rtlCol="0" anchor="t">
            <a:spAutoFit/>
          </a:bodyPr>
          <a:lstStyle/>
          <a:p>
            <a:pPr marL="0" lvl="0" indent="0" algn="l">
              <a:lnSpc>
                <a:spcPts val="3099"/>
              </a:lnSpc>
            </a:pPr>
            <a:r>
              <a:rPr lang="en-US" sz="2214" b="1">
                <a:solidFill>
                  <a:srgbClr val="0C5BF5"/>
                </a:solidFill>
                <a:latin typeface="Poppins Medium"/>
                <a:ea typeface="Poppins Medium"/>
                <a:cs typeface="Poppins Medium"/>
                <a:sym typeface="Poppins Medium"/>
              </a:rPr>
              <a:t>Risk score calculation with Safe, Warning, and High Risk classifications. Dashboard summary with real-time alerts and actionable insights.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01362" y="3884158"/>
            <a:ext cx="3678078" cy="5374142"/>
            <a:chOff x="0" y="0"/>
            <a:chExt cx="569831" cy="832595"/>
          </a:xfrm>
        </p:grpSpPr>
        <p:sp>
          <p:nvSpPr>
            <p:cNvPr id="3" name="Freeform 3"/>
            <p:cNvSpPr/>
            <p:nvPr/>
          </p:nvSpPr>
          <p:spPr>
            <a:xfrm>
              <a:off x="0" y="0"/>
              <a:ext cx="569831" cy="832595"/>
            </a:xfrm>
            <a:custGeom>
              <a:avLst/>
              <a:gdLst/>
              <a:ahLst/>
              <a:cxnLst/>
              <a:rect l="l" t="t" r="r" b="b"/>
              <a:pathLst>
                <a:path w="569831" h="832595">
                  <a:moveTo>
                    <a:pt x="0" y="0"/>
                  </a:moveTo>
                  <a:lnTo>
                    <a:pt x="569831" y="0"/>
                  </a:lnTo>
                  <a:lnTo>
                    <a:pt x="569831" y="832595"/>
                  </a:lnTo>
                  <a:lnTo>
                    <a:pt x="0" y="832595"/>
                  </a:lnTo>
                  <a:close/>
                </a:path>
              </a:pathLst>
            </a:custGeom>
            <a:blipFill>
              <a:blip r:embed="rId2"/>
              <a:stretch>
                <a:fillRect t="-790" b="-790"/>
              </a:stretch>
            </a:blipFill>
          </p:spPr>
        </p:sp>
      </p:grpSp>
      <p:sp>
        <p:nvSpPr>
          <p:cNvPr id="4" name="Freeform 4"/>
          <p:cNvSpPr/>
          <p:nvPr/>
        </p:nvSpPr>
        <p:spPr>
          <a:xfrm>
            <a:off x="12582052" y="3211474"/>
            <a:ext cx="833938" cy="605821"/>
          </a:xfrm>
          <a:custGeom>
            <a:avLst/>
            <a:gdLst/>
            <a:ahLst/>
            <a:cxnLst/>
            <a:rect l="l" t="t" r="r" b="b"/>
            <a:pathLst>
              <a:path w="833938" h="605821">
                <a:moveTo>
                  <a:pt x="0" y="0"/>
                </a:moveTo>
                <a:lnTo>
                  <a:pt x="833938" y="0"/>
                </a:lnTo>
                <a:lnTo>
                  <a:pt x="833938" y="605820"/>
                </a:lnTo>
                <a:lnTo>
                  <a:pt x="0" y="605820"/>
                </a:lnTo>
                <a:lnTo>
                  <a:pt x="0" y="0"/>
                </a:lnTo>
                <a:close/>
              </a:path>
            </a:pathLst>
          </a:custGeom>
          <a:blipFill>
            <a:blip r:embed="rId3"/>
            <a:stretch>
              <a:fillRect/>
            </a:stretch>
          </a:blipFill>
        </p:spPr>
      </p:sp>
      <p:sp>
        <p:nvSpPr>
          <p:cNvPr id="5" name="Freeform 5"/>
          <p:cNvSpPr/>
          <p:nvPr/>
        </p:nvSpPr>
        <p:spPr>
          <a:xfrm>
            <a:off x="12535743" y="5147403"/>
            <a:ext cx="1013999" cy="873853"/>
          </a:xfrm>
          <a:custGeom>
            <a:avLst/>
            <a:gdLst/>
            <a:ahLst/>
            <a:cxnLst/>
            <a:rect l="l" t="t" r="r" b="b"/>
            <a:pathLst>
              <a:path w="1013999" h="873853">
                <a:moveTo>
                  <a:pt x="0" y="0"/>
                </a:moveTo>
                <a:lnTo>
                  <a:pt x="1013999" y="0"/>
                </a:lnTo>
                <a:lnTo>
                  <a:pt x="1013999" y="873853"/>
                </a:lnTo>
                <a:lnTo>
                  <a:pt x="0" y="873853"/>
                </a:lnTo>
                <a:lnTo>
                  <a:pt x="0" y="0"/>
                </a:lnTo>
                <a:close/>
              </a:path>
            </a:pathLst>
          </a:custGeom>
          <a:blipFill>
            <a:blip r:embed="rId4"/>
            <a:stretch>
              <a:fillRect/>
            </a:stretch>
          </a:blipFill>
        </p:spPr>
      </p:sp>
      <p:sp>
        <p:nvSpPr>
          <p:cNvPr id="6" name="Freeform 6"/>
          <p:cNvSpPr/>
          <p:nvPr/>
        </p:nvSpPr>
        <p:spPr>
          <a:xfrm>
            <a:off x="12712043" y="7372162"/>
            <a:ext cx="673023" cy="664410"/>
          </a:xfrm>
          <a:custGeom>
            <a:avLst/>
            <a:gdLst/>
            <a:ahLst/>
            <a:cxnLst/>
            <a:rect l="l" t="t" r="r" b="b"/>
            <a:pathLst>
              <a:path w="673023" h="664410">
                <a:moveTo>
                  <a:pt x="0" y="0"/>
                </a:moveTo>
                <a:lnTo>
                  <a:pt x="673023" y="0"/>
                </a:lnTo>
                <a:lnTo>
                  <a:pt x="673023" y="664410"/>
                </a:lnTo>
                <a:lnTo>
                  <a:pt x="0" y="664410"/>
                </a:lnTo>
                <a:lnTo>
                  <a:pt x="0" y="0"/>
                </a:lnTo>
                <a:close/>
              </a:path>
            </a:pathLst>
          </a:custGeom>
          <a:blipFill>
            <a:blip r:embed="rId5"/>
            <a:stretch>
              <a:fillRect/>
            </a:stretch>
          </a:blipFill>
        </p:spPr>
      </p:sp>
      <p:sp>
        <p:nvSpPr>
          <p:cNvPr id="7" name="TextBox 7"/>
          <p:cNvSpPr txBox="1"/>
          <p:nvPr/>
        </p:nvSpPr>
        <p:spPr>
          <a:xfrm>
            <a:off x="1028700" y="1693510"/>
            <a:ext cx="8811701" cy="1711494"/>
          </a:xfrm>
          <a:prstGeom prst="rect">
            <a:avLst/>
          </a:prstGeom>
        </p:spPr>
        <p:txBody>
          <a:bodyPr lIns="0" tIns="0" rIns="0" bIns="0" rtlCol="0" anchor="t">
            <a:spAutoFit/>
          </a:bodyPr>
          <a:lstStyle/>
          <a:p>
            <a:pPr marL="0" lvl="0" indent="0" algn="l">
              <a:lnSpc>
                <a:spcPts val="13290"/>
              </a:lnSpc>
            </a:pPr>
            <a:r>
              <a:rPr lang="en-US" sz="9493" b="1">
                <a:solidFill>
                  <a:srgbClr val="0C5BF5"/>
                </a:solidFill>
                <a:latin typeface="Poppins Bold"/>
                <a:ea typeface="Poppins Bold"/>
                <a:cs typeface="Poppins Bold"/>
                <a:sym typeface="Poppins Bold"/>
              </a:rPr>
              <a:t>Demo Flow</a:t>
            </a:r>
          </a:p>
        </p:txBody>
      </p:sp>
      <p:sp>
        <p:nvSpPr>
          <p:cNvPr id="8" name="TextBox 8"/>
          <p:cNvSpPr txBox="1"/>
          <p:nvPr/>
        </p:nvSpPr>
        <p:spPr>
          <a:xfrm>
            <a:off x="1028700" y="6900291"/>
            <a:ext cx="5949790" cy="1977481"/>
          </a:xfrm>
          <a:prstGeom prst="rect">
            <a:avLst/>
          </a:prstGeom>
        </p:spPr>
        <p:txBody>
          <a:bodyPr lIns="0" tIns="0" rIns="0" bIns="0" rtlCol="0" anchor="t">
            <a:spAutoFit/>
          </a:bodyPr>
          <a:lstStyle/>
          <a:p>
            <a:pPr marL="0" lvl="0" indent="0" algn="just">
              <a:lnSpc>
                <a:spcPts val="2684"/>
              </a:lnSpc>
            </a:pPr>
            <a:r>
              <a:rPr lang="en-US" sz="1525">
                <a:solidFill>
                  <a:srgbClr val="000000"/>
                </a:solidFill>
                <a:latin typeface="Poppins Light"/>
                <a:ea typeface="Poppins Light"/>
                <a:cs typeface="Poppins Light"/>
                <a:sym typeface="Poppins Light"/>
              </a:rPr>
              <a:t>The demo showcases three key scenarios: entering normal transactions that get classified as SAFE, submitting duplicate entries that trigger WARNING alerts, and inputting high-value suspicious transactions that are flagged as HIGH RISK. All results display live on the dashboard with calculated risk scores.</a:t>
            </a:r>
          </a:p>
        </p:txBody>
      </p:sp>
      <p:sp>
        <p:nvSpPr>
          <p:cNvPr id="9" name="TextBox 9"/>
          <p:cNvSpPr txBox="1"/>
          <p:nvPr/>
        </p:nvSpPr>
        <p:spPr>
          <a:xfrm>
            <a:off x="13572650" y="3785274"/>
            <a:ext cx="3686650" cy="814464"/>
          </a:xfrm>
          <a:prstGeom prst="rect">
            <a:avLst/>
          </a:prstGeom>
        </p:spPr>
        <p:txBody>
          <a:bodyPr lIns="0" tIns="0" rIns="0" bIns="0" rtlCol="0" anchor="t">
            <a:spAutoFit/>
          </a:bodyPr>
          <a:lstStyle/>
          <a:p>
            <a:pPr marL="0" lvl="0" indent="0" algn="just">
              <a:lnSpc>
                <a:spcPts val="2237"/>
              </a:lnSpc>
            </a:pPr>
            <a:r>
              <a:rPr lang="en-US" sz="1271">
                <a:solidFill>
                  <a:srgbClr val="000000"/>
                </a:solidFill>
                <a:latin typeface="Poppins Light"/>
                <a:ea typeface="Poppins Light"/>
                <a:cs typeface="Poppins Light"/>
                <a:sym typeface="Poppins Light"/>
              </a:rPr>
              <a:t>Enter standard transactions through the React frontend. The AI engine analyzes and classifies them as SAFE with low risk scores.</a:t>
            </a:r>
          </a:p>
        </p:txBody>
      </p:sp>
      <p:sp>
        <p:nvSpPr>
          <p:cNvPr id="10" name="TextBox 10"/>
          <p:cNvSpPr txBox="1"/>
          <p:nvPr/>
        </p:nvSpPr>
        <p:spPr>
          <a:xfrm>
            <a:off x="13572650" y="3280028"/>
            <a:ext cx="3686650" cy="374207"/>
          </a:xfrm>
          <a:prstGeom prst="rect">
            <a:avLst/>
          </a:prstGeom>
        </p:spPr>
        <p:txBody>
          <a:bodyPr lIns="0" tIns="0" rIns="0" bIns="0" rtlCol="0" anchor="t">
            <a:spAutoFit/>
          </a:bodyPr>
          <a:lstStyle/>
          <a:p>
            <a:pPr marL="0" lvl="0" indent="0" algn="l">
              <a:lnSpc>
                <a:spcPts val="2999"/>
              </a:lnSpc>
              <a:spcBef>
                <a:spcPct val="0"/>
              </a:spcBef>
            </a:pPr>
            <a:r>
              <a:rPr lang="en-US" sz="2142" b="1">
                <a:solidFill>
                  <a:srgbClr val="0C5BF5"/>
                </a:solidFill>
                <a:latin typeface="Poppins Medium"/>
                <a:ea typeface="Poppins Medium"/>
                <a:cs typeface="Poppins Medium"/>
                <a:sym typeface="Poppins Medium"/>
              </a:rPr>
              <a:t>Step 1: Normal Entry</a:t>
            </a:r>
          </a:p>
        </p:txBody>
      </p:sp>
      <p:sp>
        <p:nvSpPr>
          <p:cNvPr id="11" name="TextBox 11"/>
          <p:cNvSpPr txBox="1"/>
          <p:nvPr/>
        </p:nvSpPr>
        <p:spPr>
          <a:xfrm>
            <a:off x="13572650" y="5870790"/>
            <a:ext cx="3686650" cy="814464"/>
          </a:xfrm>
          <a:prstGeom prst="rect">
            <a:avLst/>
          </a:prstGeom>
        </p:spPr>
        <p:txBody>
          <a:bodyPr lIns="0" tIns="0" rIns="0" bIns="0" rtlCol="0" anchor="t">
            <a:spAutoFit/>
          </a:bodyPr>
          <a:lstStyle/>
          <a:p>
            <a:pPr marL="0" lvl="0" indent="0" algn="just">
              <a:lnSpc>
                <a:spcPts val="2237"/>
              </a:lnSpc>
            </a:pPr>
            <a:r>
              <a:rPr lang="en-US" sz="1271">
                <a:solidFill>
                  <a:srgbClr val="000000"/>
                </a:solidFill>
                <a:latin typeface="Poppins Light"/>
                <a:ea typeface="Poppins Light"/>
                <a:cs typeface="Poppins Light"/>
                <a:sym typeface="Poppins Light"/>
              </a:rPr>
              <a:t>Submit duplicate transaction entries. The system automatically detects matches and generates WARNING alerts on the dashboard.</a:t>
            </a:r>
          </a:p>
        </p:txBody>
      </p:sp>
      <p:sp>
        <p:nvSpPr>
          <p:cNvPr id="12" name="TextBox 12"/>
          <p:cNvSpPr txBox="1"/>
          <p:nvPr/>
        </p:nvSpPr>
        <p:spPr>
          <a:xfrm>
            <a:off x="13572650" y="5365544"/>
            <a:ext cx="3686650" cy="374207"/>
          </a:xfrm>
          <a:prstGeom prst="rect">
            <a:avLst/>
          </a:prstGeom>
        </p:spPr>
        <p:txBody>
          <a:bodyPr lIns="0" tIns="0" rIns="0" bIns="0" rtlCol="0" anchor="t">
            <a:spAutoFit/>
          </a:bodyPr>
          <a:lstStyle/>
          <a:p>
            <a:pPr marL="0" lvl="0" indent="0" algn="l">
              <a:lnSpc>
                <a:spcPts val="2999"/>
              </a:lnSpc>
              <a:spcBef>
                <a:spcPct val="0"/>
              </a:spcBef>
            </a:pPr>
            <a:r>
              <a:rPr lang="en-US" sz="2142" b="1">
                <a:solidFill>
                  <a:srgbClr val="0C5BF5"/>
                </a:solidFill>
                <a:latin typeface="Poppins Medium"/>
                <a:ea typeface="Poppins Medium"/>
                <a:cs typeface="Poppins Medium"/>
                <a:sym typeface="Poppins Medium"/>
              </a:rPr>
              <a:t>Step 2: Duplicate Detection</a:t>
            </a:r>
          </a:p>
        </p:txBody>
      </p:sp>
      <p:sp>
        <p:nvSpPr>
          <p:cNvPr id="13" name="TextBox 13"/>
          <p:cNvSpPr txBox="1"/>
          <p:nvPr/>
        </p:nvSpPr>
        <p:spPr>
          <a:xfrm>
            <a:off x="13572650" y="7955280"/>
            <a:ext cx="3686650" cy="814464"/>
          </a:xfrm>
          <a:prstGeom prst="rect">
            <a:avLst/>
          </a:prstGeom>
        </p:spPr>
        <p:txBody>
          <a:bodyPr lIns="0" tIns="0" rIns="0" bIns="0" rtlCol="0" anchor="t">
            <a:spAutoFit/>
          </a:bodyPr>
          <a:lstStyle/>
          <a:p>
            <a:pPr marL="0" lvl="0" indent="0" algn="just">
              <a:lnSpc>
                <a:spcPts val="2237"/>
              </a:lnSpc>
            </a:pPr>
            <a:r>
              <a:rPr lang="en-US" sz="1271">
                <a:solidFill>
                  <a:srgbClr val="000000"/>
                </a:solidFill>
                <a:latin typeface="Poppins Light"/>
                <a:ea typeface="Poppins Light"/>
                <a:cs typeface="Poppins Light"/>
                <a:sym typeface="Poppins Light"/>
              </a:rPr>
              <a:t>Input high-value or suspicious transactions. These are immediately flagged as HIGH RISK with elevated scores and prominent alerts.</a:t>
            </a:r>
          </a:p>
        </p:txBody>
      </p:sp>
      <p:sp>
        <p:nvSpPr>
          <p:cNvPr id="14" name="TextBox 14"/>
          <p:cNvSpPr txBox="1"/>
          <p:nvPr/>
        </p:nvSpPr>
        <p:spPr>
          <a:xfrm>
            <a:off x="13572650" y="7450035"/>
            <a:ext cx="3686650" cy="374207"/>
          </a:xfrm>
          <a:prstGeom prst="rect">
            <a:avLst/>
          </a:prstGeom>
        </p:spPr>
        <p:txBody>
          <a:bodyPr lIns="0" tIns="0" rIns="0" bIns="0" rtlCol="0" anchor="t">
            <a:spAutoFit/>
          </a:bodyPr>
          <a:lstStyle/>
          <a:p>
            <a:pPr marL="0" lvl="0" indent="0" algn="l">
              <a:lnSpc>
                <a:spcPts val="2999"/>
              </a:lnSpc>
              <a:spcBef>
                <a:spcPct val="0"/>
              </a:spcBef>
            </a:pPr>
            <a:r>
              <a:rPr lang="en-US" sz="2142" b="1">
                <a:solidFill>
                  <a:srgbClr val="0C5BF5"/>
                </a:solidFill>
                <a:latin typeface="Poppins Medium"/>
                <a:ea typeface="Poppins Medium"/>
                <a:cs typeface="Poppins Medium"/>
                <a:sym typeface="Poppins Medium"/>
              </a:rPr>
              <a:t>Step 3: High Risk Flag</a:t>
            </a:r>
          </a:p>
        </p:txBody>
      </p:sp>
      <p:sp>
        <p:nvSpPr>
          <p:cNvPr id="15" name="Freeform 15"/>
          <p:cNvSpPr/>
          <p:nvPr/>
        </p:nvSpPr>
        <p:spPr>
          <a:xfrm>
            <a:off x="1018615" y="1024245"/>
            <a:ext cx="508652" cy="500840"/>
          </a:xfrm>
          <a:custGeom>
            <a:avLst/>
            <a:gdLst/>
            <a:ahLst/>
            <a:cxnLst/>
            <a:rect l="l" t="t" r="r" b="b"/>
            <a:pathLst>
              <a:path w="508652" h="500840">
                <a:moveTo>
                  <a:pt x="0" y="0"/>
                </a:moveTo>
                <a:lnTo>
                  <a:pt x="508652" y="0"/>
                </a:lnTo>
                <a:lnTo>
                  <a:pt x="508652" y="500840"/>
                </a:lnTo>
                <a:lnTo>
                  <a:pt x="0" y="500840"/>
                </a:lnTo>
                <a:lnTo>
                  <a:pt x="0" y="0"/>
                </a:lnTo>
                <a:close/>
              </a:path>
            </a:pathLst>
          </a:custGeom>
          <a:blipFill>
            <a:blip r:embed="rId6"/>
            <a:stretch>
              <a:fillRect/>
            </a:stretch>
          </a:blipFill>
        </p:spPr>
      </p:sp>
      <p:sp>
        <p:nvSpPr>
          <p:cNvPr id="16" name="TextBox 16"/>
          <p:cNvSpPr txBox="1"/>
          <p:nvPr/>
        </p:nvSpPr>
        <p:spPr>
          <a:xfrm>
            <a:off x="12588677" y="933450"/>
            <a:ext cx="4670623" cy="1173642"/>
          </a:xfrm>
          <a:prstGeom prst="rect">
            <a:avLst/>
          </a:prstGeom>
        </p:spPr>
        <p:txBody>
          <a:bodyPr lIns="0" tIns="0" rIns="0" bIns="0" rtlCol="0" anchor="t">
            <a:spAutoFit/>
          </a:bodyPr>
          <a:lstStyle/>
          <a:p>
            <a:pPr marL="0" lvl="0" indent="0" algn="r">
              <a:lnSpc>
                <a:spcPts val="4611"/>
              </a:lnSpc>
            </a:pPr>
            <a:r>
              <a:rPr lang="en-US" sz="3293">
                <a:solidFill>
                  <a:srgbClr val="0C5BF5"/>
                </a:solidFill>
                <a:latin typeface="Poppins"/>
                <a:ea typeface="Poppins"/>
                <a:cs typeface="Poppins"/>
                <a:sym typeface="Poppins"/>
              </a:rPr>
              <a:t>AI Bookkeeping Dashboard</a:t>
            </a:r>
          </a:p>
        </p:txBody>
      </p:sp>
      <p:sp>
        <p:nvSpPr>
          <p:cNvPr id="17" name="TextBox 17"/>
          <p:cNvSpPr txBox="1"/>
          <p:nvPr/>
        </p:nvSpPr>
        <p:spPr>
          <a:xfrm>
            <a:off x="1028700" y="5870790"/>
            <a:ext cx="5949790" cy="660657"/>
          </a:xfrm>
          <a:prstGeom prst="rect">
            <a:avLst/>
          </a:prstGeom>
        </p:spPr>
        <p:txBody>
          <a:bodyPr lIns="0" tIns="0" rIns="0" bIns="0" rtlCol="0" anchor="t">
            <a:spAutoFit/>
          </a:bodyPr>
          <a:lstStyle/>
          <a:p>
            <a:pPr marL="0" lvl="0" indent="0" algn="l">
              <a:lnSpc>
                <a:spcPts val="2629"/>
              </a:lnSpc>
              <a:spcBef>
                <a:spcPct val="0"/>
              </a:spcBef>
            </a:pPr>
            <a:r>
              <a:rPr lang="en-US" sz="1877" b="1">
                <a:solidFill>
                  <a:srgbClr val="0C5BF5"/>
                </a:solidFill>
                <a:latin typeface="Poppins Medium"/>
                <a:ea typeface="Poppins Medium"/>
                <a:cs typeface="Poppins Medium"/>
                <a:sym typeface="Poppins Medium"/>
              </a:rPr>
              <a:t>See how the AI bookkeeping system classifies transactions in real-time.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03621" y="1059252"/>
            <a:ext cx="538300" cy="492929"/>
          </a:xfrm>
          <a:custGeom>
            <a:avLst/>
            <a:gdLst/>
            <a:ahLst/>
            <a:cxnLst/>
            <a:rect l="l" t="t" r="r" b="b"/>
            <a:pathLst>
              <a:path w="538300" h="492929">
                <a:moveTo>
                  <a:pt x="0" y="0"/>
                </a:moveTo>
                <a:lnTo>
                  <a:pt x="538300" y="0"/>
                </a:lnTo>
                <a:lnTo>
                  <a:pt x="538300" y="492929"/>
                </a:lnTo>
                <a:lnTo>
                  <a:pt x="0" y="492929"/>
                </a:lnTo>
                <a:lnTo>
                  <a:pt x="0" y="0"/>
                </a:lnTo>
                <a:close/>
              </a:path>
            </a:pathLst>
          </a:custGeom>
          <a:blipFill>
            <a:blip r:embed="rId2"/>
            <a:stretch>
              <a:fillRect/>
            </a:stretch>
          </a:blipFill>
        </p:spPr>
      </p:sp>
      <p:grpSp>
        <p:nvGrpSpPr>
          <p:cNvPr id="3" name="Group 3"/>
          <p:cNvGrpSpPr/>
          <p:nvPr/>
        </p:nvGrpSpPr>
        <p:grpSpPr>
          <a:xfrm>
            <a:off x="1028700" y="5793504"/>
            <a:ext cx="7877860" cy="3464796"/>
            <a:chOff x="0" y="0"/>
            <a:chExt cx="1220487" cy="536788"/>
          </a:xfrm>
        </p:grpSpPr>
        <p:sp>
          <p:nvSpPr>
            <p:cNvPr id="4" name="Freeform 4"/>
            <p:cNvSpPr/>
            <p:nvPr/>
          </p:nvSpPr>
          <p:spPr>
            <a:xfrm>
              <a:off x="0" y="0"/>
              <a:ext cx="1220487" cy="536787"/>
            </a:xfrm>
            <a:custGeom>
              <a:avLst/>
              <a:gdLst/>
              <a:ahLst/>
              <a:cxnLst/>
              <a:rect l="l" t="t" r="r" b="b"/>
              <a:pathLst>
                <a:path w="1220487" h="536787">
                  <a:moveTo>
                    <a:pt x="0" y="0"/>
                  </a:moveTo>
                  <a:lnTo>
                    <a:pt x="1220487" y="0"/>
                  </a:lnTo>
                  <a:lnTo>
                    <a:pt x="1220487" y="536787"/>
                  </a:lnTo>
                  <a:lnTo>
                    <a:pt x="0" y="536787"/>
                  </a:lnTo>
                  <a:close/>
                </a:path>
              </a:pathLst>
            </a:custGeom>
            <a:blipFill>
              <a:blip r:embed="rId3"/>
              <a:stretch>
                <a:fillRect t="-14800" b="-14800"/>
              </a:stretch>
            </a:blipFill>
          </p:spPr>
        </p:sp>
      </p:grpSp>
      <p:grpSp>
        <p:nvGrpSpPr>
          <p:cNvPr id="5" name="Group 5"/>
          <p:cNvGrpSpPr/>
          <p:nvPr/>
        </p:nvGrpSpPr>
        <p:grpSpPr>
          <a:xfrm>
            <a:off x="9381440" y="5793504"/>
            <a:ext cx="7877860" cy="3464796"/>
            <a:chOff x="0" y="0"/>
            <a:chExt cx="1220487" cy="536788"/>
          </a:xfrm>
        </p:grpSpPr>
        <p:sp>
          <p:nvSpPr>
            <p:cNvPr id="6" name="Freeform 6"/>
            <p:cNvSpPr/>
            <p:nvPr/>
          </p:nvSpPr>
          <p:spPr>
            <a:xfrm>
              <a:off x="0" y="0"/>
              <a:ext cx="1220487" cy="536787"/>
            </a:xfrm>
            <a:custGeom>
              <a:avLst/>
              <a:gdLst/>
              <a:ahLst/>
              <a:cxnLst/>
              <a:rect l="l" t="t" r="r" b="b"/>
              <a:pathLst>
                <a:path w="1220487" h="536787">
                  <a:moveTo>
                    <a:pt x="0" y="0"/>
                  </a:moveTo>
                  <a:lnTo>
                    <a:pt x="1220487" y="0"/>
                  </a:lnTo>
                  <a:lnTo>
                    <a:pt x="1220487" y="536787"/>
                  </a:lnTo>
                  <a:lnTo>
                    <a:pt x="0" y="536787"/>
                  </a:lnTo>
                  <a:close/>
                </a:path>
              </a:pathLst>
            </a:custGeom>
            <a:blipFill>
              <a:blip r:embed="rId4"/>
              <a:stretch>
                <a:fillRect t="-14800" b="-14800"/>
              </a:stretch>
            </a:blipFill>
          </p:spPr>
        </p:sp>
      </p:grpSp>
      <p:sp>
        <p:nvSpPr>
          <p:cNvPr id="7" name="TextBox 7"/>
          <p:cNvSpPr txBox="1"/>
          <p:nvPr/>
        </p:nvSpPr>
        <p:spPr>
          <a:xfrm>
            <a:off x="12588677" y="933450"/>
            <a:ext cx="4670623" cy="1173642"/>
          </a:xfrm>
          <a:prstGeom prst="rect">
            <a:avLst/>
          </a:prstGeom>
        </p:spPr>
        <p:txBody>
          <a:bodyPr lIns="0" tIns="0" rIns="0" bIns="0" rtlCol="0" anchor="t">
            <a:spAutoFit/>
          </a:bodyPr>
          <a:lstStyle/>
          <a:p>
            <a:pPr marL="0" lvl="0" indent="0" algn="r">
              <a:lnSpc>
                <a:spcPts val="4611"/>
              </a:lnSpc>
            </a:pPr>
            <a:r>
              <a:rPr lang="en-US" sz="3293">
                <a:solidFill>
                  <a:srgbClr val="0C5BF5"/>
                </a:solidFill>
                <a:latin typeface="Poppins"/>
                <a:ea typeface="Poppins"/>
                <a:cs typeface="Poppins"/>
                <a:sym typeface="Poppins"/>
              </a:rPr>
              <a:t>AI Bookkeeping Dashboard</a:t>
            </a:r>
          </a:p>
        </p:txBody>
      </p:sp>
      <p:sp>
        <p:nvSpPr>
          <p:cNvPr id="8" name="TextBox 8"/>
          <p:cNvSpPr txBox="1"/>
          <p:nvPr/>
        </p:nvSpPr>
        <p:spPr>
          <a:xfrm>
            <a:off x="8383743" y="2720778"/>
            <a:ext cx="8875557" cy="2386674"/>
          </a:xfrm>
          <a:prstGeom prst="rect">
            <a:avLst/>
          </a:prstGeom>
        </p:spPr>
        <p:txBody>
          <a:bodyPr lIns="0" tIns="0" rIns="0" bIns="0" rtlCol="0" anchor="t">
            <a:spAutoFit/>
          </a:bodyPr>
          <a:lstStyle/>
          <a:p>
            <a:pPr marL="0" lvl="0" indent="0" algn="just">
              <a:lnSpc>
                <a:spcPts val="3165"/>
              </a:lnSpc>
            </a:pPr>
            <a:r>
              <a:rPr lang="en-US" sz="1798">
                <a:solidFill>
                  <a:srgbClr val="000000"/>
                </a:solidFill>
                <a:latin typeface="Poppins Light"/>
                <a:ea typeface="Poppins Light"/>
                <a:cs typeface="Poppins Light"/>
                <a:sym typeface="Poppins Light"/>
              </a:rPr>
              <a:t>Three dashboard views demonstrate the AI classification system in action. The SAFE scenario shows normal transactions with green indicators and low risk scores. The WARNING view highlights duplicate detection with amber alerts and elevated risk classifications. The HIGH RISK display flags suspicious high-value transactions with red warnings and maximum risk scores, enabling immediate review.</a:t>
            </a:r>
          </a:p>
        </p:txBody>
      </p:sp>
      <p:sp>
        <p:nvSpPr>
          <p:cNvPr id="9" name="TextBox 9"/>
          <p:cNvSpPr txBox="1"/>
          <p:nvPr/>
        </p:nvSpPr>
        <p:spPr>
          <a:xfrm>
            <a:off x="1028700" y="2655500"/>
            <a:ext cx="6261251" cy="2645868"/>
          </a:xfrm>
          <a:prstGeom prst="rect">
            <a:avLst/>
          </a:prstGeom>
        </p:spPr>
        <p:txBody>
          <a:bodyPr lIns="0" tIns="0" rIns="0" bIns="0" rtlCol="0" anchor="t">
            <a:spAutoFit/>
          </a:bodyPr>
          <a:lstStyle/>
          <a:p>
            <a:pPr marL="0" lvl="0" indent="0" algn="l">
              <a:lnSpc>
                <a:spcPts val="6718"/>
              </a:lnSpc>
            </a:pPr>
            <a:r>
              <a:rPr lang="en-US" sz="6460" b="1">
                <a:solidFill>
                  <a:srgbClr val="0C5BF5"/>
                </a:solidFill>
                <a:latin typeface="Poppins Bold"/>
                <a:ea typeface="Poppins Bold"/>
                <a:cs typeface="Poppins Bold"/>
                <a:sym typeface="Poppins Bold"/>
              </a:rPr>
              <a:t>Results and Dashboard Screenshots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5545" y="761867"/>
            <a:ext cx="493692" cy="915199"/>
          </a:xfrm>
          <a:custGeom>
            <a:avLst/>
            <a:gdLst/>
            <a:ahLst/>
            <a:cxnLst/>
            <a:rect l="l" t="t" r="r" b="b"/>
            <a:pathLst>
              <a:path w="493692" h="915199">
                <a:moveTo>
                  <a:pt x="0" y="0"/>
                </a:moveTo>
                <a:lnTo>
                  <a:pt x="493691" y="0"/>
                </a:lnTo>
                <a:lnTo>
                  <a:pt x="493691" y="915199"/>
                </a:lnTo>
                <a:lnTo>
                  <a:pt x="0" y="915199"/>
                </a:lnTo>
                <a:lnTo>
                  <a:pt x="0" y="0"/>
                </a:lnTo>
                <a:close/>
              </a:path>
            </a:pathLst>
          </a:custGeom>
          <a:blipFill>
            <a:blip r:embed="rId2"/>
            <a:stretch>
              <a:fillRect/>
            </a:stretch>
          </a:blipFill>
        </p:spPr>
      </p:sp>
      <p:sp>
        <p:nvSpPr>
          <p:cNvPr id="3" name="Freeform 3"/>
          <p:cNvSpPr/>
          <p:nvPr/>
        </p:nvSpPr>
        <p:spPr>
          <a:xfrm>
            <a:off x="3177055" y="4485645"/>
            <a:ext cx="857667" cy="1084696"/>
          </a:xfrm>
          <a:custGeom>
            <a:avLst/>
            <a:gdLst/>
            <a:ahLst/>
            <a:cxnLst/>
            <a:rect l="l" t="t" r="r" b="b"/>
            <a:pathLst>
              <a:path w="857667" h="1084696">
                <a:moveTo>
                  <a:pt x="0" y="0"/>
                </a:moveTo>
                <a:lnTo>
                  <a:pt x="857666" y="0"/>
                </a:lnTo>
                <a:lnTo>
                  <a:pt x="857666" y="1084696"/>
                </a:lnTo>
                <a:lnTo>
                  <a:pt x="0" y="1084696"/>
                </a:lnTo>
                <a:lnTo>
                  <a:pt x="0" y="0"/>
                </a:lnTo>
                <a:close/>
              </a:path>
            </a:pathLst>
          </a:custGeom>
          <a:blipFill>
            <a:blip r:embed="rId3"/>
            <a:stretch>
              <a:fillRect/>
            </a:stretch>
          </a:blipFill>
        </p:spPr>
      </p:sp>
      <p:sp>
        <p:nvSpPr>
          <p:cNvPr id="4" name="Freeform 4"/>
          <p:cNvSpPr/>
          <p:nvPr/>
        </p:nvSpPr>
        <p:spPr>
          <a:xfrm>
            <a:off x="8662821" y="4487248"/>
            <a:ext cx="958788" cy="1070237"/>
          </a:xfrm>
          <a:custGeom>
            <a:avLst/>
            <a:gdLst/>
            <a:ahLst/>
            <a:cxnLst/>
            <a:rect l="l" t="t" r="r" b="b"/>
            <a:pathLst>
              <a:path w="958788" h="1070237">
                <a:moveTo>
                  <a:pt x="0" y="0"/>
                </a:moveTo>
                <a:lnTo>
                  <a:pt x="958788" y="0"/>
                </a:lnTo>
                <a:lnTo>
                  <a:pt x="958788" y="1070237"/>
                </a:lnTo>
                <a:lnTo>
                  <a:pt x="0" y="1070237"/>
                </a:lnTo>
                <a:lnTo>
                  <a:pt x="0" y="0"/>
                </a:lnTo>
                <a:close/>
              </a:path>
            </a:pathLst>
          </a:custGeom>
          <a:blipFill>
            <a:blip r:embed="rId4"/>
            <a:stretch>
              <a:fillRect/>
            </a:stretch>
          </a:blipFill>
        </p:spPr>
      </p:sp>
      <p:sp>
        <p:nvSpPr>
          <p:cNvPr id="5" name="Freeform 5"/>
          <p:cNvSpPr/>
          <p:nvPr/>
        </p:nvSpPr>
        <p:spPr>
          <a:xfrm>
            <a:off x="14219337" y="4411996"/>
            <a:ext cx="1088572" cy="1096882"/>
          </a:xfrm>
          <a:custGeom>
            <a:avLst/>
            <a:gdLst/>
            <a:ahLst/>
            <a:cxnLst/>
            <a:rect l="l" t="t" r="r" b="b"/>
            <a:pathLst>
              <a:path w="1088572" h="1096882">
                <a:moveTo>
                  <a:pt x="0" y="0"/>
                </a:moveTo>
                <a:lnTo>
                  <a:pt x="1088572" y="0"/>
                </a:lnTo>
                <a:lnTo>
                  <a:pt x="1088572" y="1096882"/>
                </a:lnTo>
                <a:lnTo>
                  <a:pt x="0" y="1096882"/>
                </a:lnTo>
                <a:lnTo>
                  <a:pt x="0" y="0"/>
                </a:lnTo>
                <a:close/>
              </a:path>
            </a:pathLst>
          </a:custGeom>
          <a:blipFill>
            <a:blip r:embed="rId5"/>
            <a:stretch>
              <a:fillRect/>
            </a:stretch>
          </a:blipFill>
        </p:spPr>
      </p:sp>
      <p:sp>
        <p:nvSpPr>
          <p:cNvPr id="6" name="TextBox 6"/>
          <p:cNvSpPr txBox="1"/>
          <p:nvPr/>
        </p:nvSpPr>
        <p:spPr>
          <a:xfrm>
            <a:off x="4973691" y="1620838"/>
            <a:ext cx="8340618" cy="1711494"/>
          </a:xfrm>
          <a:prstGeom prst="rect">
            <a:avLst/>
          </a:prstGeom>
        </p:spPr>
        <p:txBody>
          <a:bodyPr lIns="0" tIns="0" rIns="0" bIns="0" rtlCol="0" anchor="t">
            <a:spAutoFit/>
          </a:bodyPr>
          <a:lstStyle/>
          <a:p>
            <a:pPr marL="0" lvl="0" indent="0" algn="ctr">
              <a:lnSpc>
                <a:spcPts val="13290"/>
              </a:lnSpc>
            </a:pPr>
            <a:r>
              <a:rPr lang="en-US" sz="9493" b="1">
                <a:solidFill>
                  <a:srgbClr val="0C5BF5"/>
                </a:solidFill>
                <a:latin typeface="Poppins Bold"/>
                <a:ea typeface="Poppins Bold"/>
                <a:cs typeface="Poppins Bold"/>
                <a:sym typeface="Poppins Bold"/>
              </a:rPr>
              <a:t>Future Scope</a:t>
            </a:r>
          </a:p>
        </p:txBody>
      </p:sp>
      <p:sp>
        <p:nvSpPr>
          <p:cNvPr id="7" name="TextBox 7"/>
          <p:cNvSpPr txBox="1"/>
          <p:nvPr/>
        </p:nvSpPr>
        <p:spPr>
          <a:xfrm>
            <a:off x="12588677" y="942975"/>
            <a:ext cx="4670623" cy="492778"/>
          </a:xfrm>
          <a:prstGeom prst="rect">
            <a:avLst/>
          </a:prstGeom>
        </p:spPr>
        <p:txBody>
          <a:bodyPr lIns="0" tIns="0" rIns="0" bIns="0" rtlCol="0" anchor="t">
            <a:spAutoFit/>
          </a:bodyPr>
          <a:lstStyle/>
          <a:p>
            <a:pPr marL="0" lvl="0" indent="0" algn="r">
              <a:lnSpc>
                <a:spcPts val="3813"/>
              </a:lnSpc>
            </a:pPr>
            <a:r>
              <a:rPr lang="en-US" sz="2724">
                <a:solidFill>
                  <a:srgbClr val="0C5BF5"/>
                </a:solidFill>
                <a:latin typeface="Poppins"/>
                <a:ea typeface="Poppins"/>
                <a:cs typeface="Poppins"/>
                <a:sym typeface="Poppins"/>
              </a:rPr>
              <a:t>AI Bookkeeping Dashboard</a:t>
            </a:r>
          </a:p>
        </p:txBody>
      </p:sp>
      <p:sp>
        <p:nvSpPr>
          <p:cNvPr id="8" name="TextBox 8"/>
          <p:cNvSpPr txBox="1"/>
          <p:nvPr/>
        </p:nvSpPr>
        <p:spPr>
          <a:xfrm>
            <a:off x="1028700" y="6410642"/>
            <a:ext cx="5091608" cy="1655445"/>
          </a:xfrm>
          <a:prstGeom prst="rect">
            <a:avLst/>
          </a:prstGeom>
        </p:spPr>
        <p:txBody>
          <a:bodyPr lIns="0" tIns="0" rIns="0" bIns="0" rtlCol="0" anchor="t">
            <a:spAutoFit/>
          </a:bodyPr>
          <a:lstStyle/>
          <a:p>
            <a:pPr marL="0" lvl="0" indent="0" algn="ctr">
              <a:lnSpc>
                <a:spcPts val="2640"/>
              </a:lnSpc>
            </a:pPr>
            <a:r>
              <a:rPr lang="en-US" sz="1500">
                <a:solidFill>
                  <a:srgbClr val="000000"/>
                </a:solidFill>
                <a:latin typeface="Poppins Light"/>
                <a:ea typeface="Poppins Light"/>
                <a:cs typeface="Poppins Light"/>
                <a:sym typeface="Poppins Light"/>
              </a:rPr>
              <a:t>Implement SQLite database for persistent transaction storage, enabling historical data analysis and audit trails. This foundation supports scalable data management and seamless backup capabilities for enterprise deployment.</a:t>
            </a:r>
          </a:p>
        </p:txBody>
      </p:sp>
      <p:sp>
        <p:nvSpPr>
          <p:cNvPr id="9" name="TextBox 9"/>
          <p:cNvSpPr txBox="1"/>
          <p:nvPr/>
        </p:nvSpPr>
        <p:spPr>
          <a:xfrm>
            <a:off x="1028700"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Database Integration</a:t>
            </a:r>
          </a:p>
        </p:txBody>
      </p:sp>
      <p:sp>
        <p:nvSpPr>
          <p:cNvPr id="10" name="TextBox 10"/>
          <p:cNvSpPr txBox="1"/>
          <p:nvPr/>
        </p:nvSpPr>
        <p:spPr>
          <a:xfrm>
            <a:off x="6595945" y="6410642"/>
            <a:ext cx="5091608" cy="1637628"/>
          </a:xfrm>
          <a:prstGeom prst="rect">
            <a:avLst/>
          </a:prstGeom>
        </p:spPr>
        <p:txBody>
          <a:bodyPr lIns="0" tIns="0" rIns="0" bIns="0" rtlCol="0" anchor="t">
            <a:spAutoFit/>
          </a:bodyPr>
          <a:lstStyle/>
          <a:p>
            <a:pPr lvl="0" algn="ctr">
              <a:lnSpc>
                <a:spcPts val="2640"/>
              </a:lnSpc>
            </a:pPr>
            <a:r>
              <a:rPr lang="en-US" sz="1500" dirty="0">
                <a:solidFill>
                  <a:srgbClr val="000000"/>
                </a:solidFill>
                <a:latin typeface="Poppins Light"/>
                <a:ea typeface="Poppins Light"/>
                <a:cs typeface="Poppins Light"/>
                <a:sym typeface="Poppins Light"/>
              </a:rPr>
              <a:t>Integrate machine learning models for advanced fraud detection beyond rule-based analysis. </a:t>
            </a:r>
            <a:r>
              <a:rPr lang="en-US" sz="1710" dirty="0">
                <a:latin typeface="Poppins Light" panose="00000400000000000000" pitchFamily="2" charset="0"/>
                <a:cs typeface="Poppins Light" panose="00000400000000000000" pitchFamily="2" charset="0"/>
              </a:rPr>
              <a:t>Future versions can be trained on real banking datasets</a:t>
            </a:r>
            <a:r>
              <a:rPr lang="en-US" sz="1500" dirty="0">
                <a:solidFill>
                  <a:srgbClr val="000000"/>
                </a:solidFill>
                <a:latin typeface="Poppins Light"/>
                <a:ea typeface="Poppins Light"/>
                <a:cs typeface="Poppins Light"/>
                <a:sym typeface="Poppins Light"/>
              </a:rPr>
              <a:t> to identify complex patterns and anomalies that traditional methods miss.</a:t>
            </a:r>
          </a:p>
        </p:txBody>
      </p:sp>
      <p:sp>
        <p:nvSpPr>
          <p:cNvPr id="11" name="TextBox 11"/>
          <p:cNvSpPr txBox="1"/>
          <p:nvPr/>
        </p:nvSpPr>
        <p:spPr>
          <a:xfrm>
            <a:off x="6595945"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ML Fraud Detection</a:t>
            </a:r>
          </a:p>
        </p:txBody>
      </p:sp>
      <p:sp>
        <p:nvSpPr>
          <p:cNvPr id="12" name="TextBox 12"/>
          <p:cNvSpPr txBox="1"/>
          <p:nvPr/>
        </p:nvSpPr>
        <p:spPr>
          <a:xfrm>
            <a:off x="12167692" y="6410642"/>
            <a:ext cx="5091608" cy="1655445"/>
          </a:xfrm>
          <a:prstGeom prst="rect">
            <a:avLst/>
          </a:prstGeom>
        </p:spPr>
        <p:txBody>
          <a:bodyPr lIns="0" tIns="0" rIns="0" bIns="0" rtlCol="0" anchor="t">
            <a:spAutoFit/>
          </a:bodyPr>
          <a:lstStyle/>
          <a:p>
            <a:pPr marL="0" lvl="0" indent="0" algn="ctr">
              <a:lnSpc>
                <a:spcPts val="2640"/>
              </a:lnSpc>
            </a:pPr>
            <a:r>
              <a:rPr lang="en-US" sz="1500">
                <a:solidFill>
                  <a:srgbClr val="000000"/>
                </a:solidFill>
                <a:latin typeface="Poppins Light"/>
                <a:ea typeface="Poppins Light"/>
                <a:cs typeface="Poppins Light"/>
                <a:sym typeface="Poppins Light"/>
              </a:rPr>
              <a:t>Generate automated PDF reports for financial summaries and compliance documentation. Incorporate real banking datasets for validation, ensuring robustness and accuracy in production environments.</a:t>
            </a:r>
          </a:p>
        </p:txBody>
      </p:sp>
      <p:sp>
        <p:nvSpPr>
          <p:cNvPr id="13" name="TextBox 13"/>
          <p:cNvSpPr txBox="1"/>
          <p:nvPr/>
        </p:nvSpPr>
        <p:spPr>
          <a:xfrm>
            <a:off x="12167692"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Automated Reporting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3674" y="1031601"/>
            <a:ext cx="498679" cy="496811"/>
          </a:xfrm>
          <a:custGeom>
            <a:avLst/>
            <a:gdLst/>
            <a:ahLst/>
            <a:cxnLst/>
            <a:rect l="l" t="t" r="r" b="b"/>
            <a:pathLst>
              <a:path w="498679" h="496811">
                <a:moveTo>
                  <a:pt x="0" y="0"/>
                </a:moveTo>
                <a:lnTo>
                  <a:pt x="498679" y="0"/>
                </a:lnTo>
                <a:lnTo>
                  <a:pt x="498679" y="496811"/>
                </a:lnTo>
                <a:lnTo>
                  <a:pt x="0" y="496811"/>
                </a:lnTo>
                <a:lnTo>
                  <a:pt x="0" y="0"/>
                </a:lnTo>
                <a:close/>
              </a:path>
            </a:pathLst>
          </a:custGeom>
          <a:blipFill>
            <a:blip r:embed="rId2"/>
            <a:stretch>
              <a:fillRect/>
            </a:stretch>
          </a:blipFill>
        </p:spPr>
      </p:sp>
      <p:sp>
        <p:nvSpPr>
          <p:cNvPr id="3" name="Freeform 3"/>
          <p:cNvSpPr/>
          <p:nvPr/>
        </p:nvSpPr>
        <p:spPr>
          <a:xfrm>
            <a:off x="3015756" y="4437224"/>
            <a:ext cx="1182049" cy="1182049"/>
          </a:xfrm>
          <a:custGeom>
            <a:avLst/>
            <a:gdLst/>
            <a:ahLst/>
            <a:cxnLst/>
            <a:rect l="l" t="t" r="r" b="b"/>
            <a:pathLst>
              <a:path w="1182049" h="1182049">
                <a:moveTo>
                  <a:pt x="0" y="0"/>
                </a:moveTo>
                <a:lnTo>
                  <a:pt x="1182049" y="0"/>
                </a:lnTo>
                <a:lnTo>
                  <a:pt x="1182049" y="1182049"/>
                </a:lnTo>
                <a:lnTo>
                  <a:pt x="0" y="1182049"/>
                </a:lnTo>
                <a:lnTo>
                  <a:pt x="0" y="0"/>
                </a:lnTo>
                <a:close/>
              </a:path>
            </a:pathLst>
          </a:custGeom>
          <a:blipFill>
            <a:blip r:embed="rId3"/>
            <a:stretch>
              <a:fillRect/>
            </a:stretch>
          </a:blipFill>
        </p:spPr>
      </p:sp>
      <p:sp>
        <p:nvSpPr>
          <p:cNvPr id="4" name="Freeform 4"/>
          <p:cNvSpPr/>
          <p:nvPr/>
        </p:nvSpPr>
        <p:spPr>
          <a:xfrm>
            <a:off x="8663362" y="4552573"/>
            <a:ext cx="957176" cy="953422"/>
          </a:xfrm>
          <a:custGeom>
            <a:avLst/>
            <a:gdLst/>
            <a:ahLst/>
            <a:cxnLst/>
            <a:rect l="l" t="t" r="r" b="b"/>
            <a:pathLst>
              <a:path w="957176" h="953422">
                <a:moveTo>
                  <a:pt x="0" y="0"/>
                </a:moveTo>
                <a:lnTo>
                  <a:pt x="957175" y="0"/>
                </a:lnTo>
                <a:lnTo>
                  <a:pt x="957175" y="953423"/>
                </a:lnTo>
                <a:lnTo>
                  <a:pt x="0" y="953423"/>
                </a:lnTo>
                <a:lnTo>
                  <a:pt x="0" y="0"/>
                </a:lnTo>
                <a:close/>
              </a:path>
            </a:pathLst>
          </a:custGeom>
          <a:blipFill>
            <a:blip r:embed="rId4"/>
            <a:stretch>
              <a:fillRect/>
            </a:stretch>
          </a:blipFill>
        </p:spPr>
      </p:sp>
      <p:sp>
        <p:nvSpPr>
          <p:cNvPr id="5" name="Freeform 5"/>
          <p:cNvSpPr/>
          <p:nvPr/>
        </p:nvSpPr>
        <p:spPr>
          <a:xfrm>
            <a:off x="14172774" y="4384145"/>
            <a:ext cx="1045347" cy="1271906"/>
          </a:xfrm>
          <a:custGeom>
            <a:avLst/>
            <a:gdLst/>
            <a:ahLst/>
            <a:cxnLst/>
            <a:rect l="l" t="t" r="r" b="b"/>
            <a:pathLst>
              <a:path w="1045347" h="1271906">
                <a:moveTo>
                  <a:pt x="0" y="0"/>
                </a:moveTo>
                <a:lnTo>
                  <a:pt x="1045348" y="0"/>
                </a:lnTo>
                <a:lnTo>
                  <a:pt x="1045348" y="1271905"/>
                </a:lnTo>
                <a:lnTo>
                  <a:pt x="0" y="1271905"/>
                </a:lnTo>
                <a:lnTo>
                  <a:pt x="0" y="0"/>
                </a:lnTo>
                <a:close/>
              </a:path>
            </a:pathLst>
          </a:custGeom>
          <a:blipFill>
            <a:blip r:embed="rId5"/>
            <a:stretch>
              <a:fillRect/>
            </a:stretch>
          </a:blipFill>
        </p:spPr>
      </p:sp>
      <p:sp>
        <p:nvSpPr>
          <p:cNvPr id="6" name="TextBox 6"/>
          <p:cNvSpPr txBox="1"/>
          <p:nvPr/>
        </p:nvSpPr>
        <p:spPr>
          <a:xfrm>
            <a:off x="4973691" y="1620838"/>
            <a:ext cx="8340618" cy="1711494"/>
          </a:xfrm>
          <a:prstGeom prst="rect">
            <a:avLst/>
          </a:prstGeom>
        </p:spPr>
        <p:txBody>
          <a:bodyPr lIns="0" tIns="0" rIns="0" bIns="0" rtlCol="0" anchor="t">
            <a:spAutoFit/>
          </a:bodyPr>
          <a:lstStyle/>
          <a:p>
            <a:pPr marL="0" lvl="0" indent="0" algn="ctr">
              <a:lnSpc>
                <a:spcPts val="13290"/>
              </a:lnSpc>
            </a:pPr>
            <a:r>
              <a:rPr lang="en-US" sz="9493" b="1">
                <a:solidFill>
                  <a:srgbClr val="0C5BF5"/>
                </a:solidFill>
                <a:latin typeface="Poppins Bold"/>
                <a:ea typeface="Poppins Bold"/>
                <a:cs typeface="Poppins Bold"/>
                <a:sym typeface="Poppins Bold"/>
              </a:rPr>
              <a:t>Conclusion</a:t>
            </a:r>
          </a:p>
        </p:txBody>
      </p:sp>
      <p:sp>
        <p:nvSpPr>
          <p:cNvPr id="7" name="TextBox 7"/>
          <p:cNvSpPr txBox="1"/>
          <p:nvPr/>
        </p:nvSpPr>
        <p:spPr>
          <a:xfrm>
            <a:off x="12588677" y="942975"/>
            <a:ext cx="4670623" cy="492778"/>
          </a:xfrm>
          <a:prstGeom prst="rect">
            <a:avLst/>
          </a:prstGeom>
        </p:spPr>
        <p:txBody>
          <a:bodyPr lIns="0" tIns="0" rIns="0" bIns="0" rtlCol="0" anchor="t">
            <a:spAutoFit/>
          </a:bodyPr>
          <a:lstStyle/>
          <a:p>
            <a:pPr marL="0" lvl="0" indent="0" algn="r">
              <a:lnSpc>
                <a:spcPts val="3813"/>
              </a:lnSpc>
            </a:pPr>
            <a:r>
              <a:rPr lang="en-US" sz="2724">
                <a:solidFill>
                  <a:srgbClr val="0C5BF5"/>
                </a:solidFill>
                <a:latin typeface="Poppins"/>
                <a:ea typeface="Poppins"/>
                <a:cs typeface="Poppins"/>
                <a:sym typeface="Poppins"/>
              </a:rPr>
              <a:t>AI Bookkeeping Dashboard</a:t>
            </a:r>
          </a:p>
        </p:txBody>
      </p:sp>
      <p:sp>
        <p:nvSpPr>
          <p:cNvPr id="8" name="TextBox 8"/>
          <p:cNvSpPr txBox="1"/>
          <p:nvPr/>
        </p:nvSpPr>
        <p:spPr>
          <a:xfrm>
            <a:off x="1028700" y="6410642"/>
            <a:ext cx="5091608" cy="1322070"/>
          </a:xfrm>
          <a:prstGeom prst="rect">
            <a:avLst/>
          </a:prstGeom>
        </p:spPr>
        <p:txBody>
          <a:bodyPr lIns="0" tIns="0" rIns="0" bIns="0" rtlCol="0" anchor="t">
            <a:spAutoFit/>
          </a:bodyPr>
          <a:lstStyle/>
          <a:p>
            <a:pPr marL="0" lvl="0" indent="0" algn="ctr">
              <a:lnSpc>
                <a:spcPts val="2640"/>
              </a:lnSpc>
            </a:pPr>
            <a:r>
              <a:rPr lang="en-US" sz="1500">
                <a:solidFill>
                  <a:srgbClr val="000000"/>
                </a:solidFill>
                <a:latin typeface="Poppins Light"/>
                <a:ea typeface="Poppins Light"/>
                <a:cs typeface="Poppins Light"/>
                <a:sym typeface="Poppins Light"/>
              </a:rPr>
              <a:t>AI-assisted bookkeeping significantly reduces manual effort, freeing up valuable time for higher-value tasks. Automated transaction processing eliminates repetitive data entry and verification work.</a:t>
            </a:r>
          </a:p>
        </p:txBody>
      </p:sp>
      <p:sp>
        <p:nvSpPr>
          <p:cNvPr id="9" name="TextBox 9"/>
          <p:cNvSpPr txBox="1"/>
          <p:nvPr/>
        </p:nvSpPr>
        <p:spPr>
          <a:xfrm>
            <a:off x="1028700"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Reduced Manual Workload</a:t>
            </a:r>
          </a:p>
        </p:txBody>
      </p:sp>
      <p:sp>
        <p:nvSpPr>
          <p:cNvPr id="10" name="TextBox 10"/>
          <p:cNvSpPr txBox="1"/>
          <p:nvPr/>
        </p:nvSpPr>
        <p:spPr>
          <a:xfrm>
            <a:off x="6595945" y="6410642"/>
            <a:ext cx="5091608" cy="1322070"/>
          </a:xfrm>
          <a:prstGeom prst="rect">
            <a:avLst/>
          </a:prstGeom>
        </p:spPr>
        <p:txBody>
          <a:bodyPr lIns="0" tIns="0" rIns="0" bIns="0" rtlCol="0" anchor="t">
            <a:spAutoFit/>
          </a:bodyPr>
          <a:lstStyle/>
          <a:p>
            <a:pPr marL="0" lvl="0" indent="0" algn="ctr">
              <a:lnSpc>
                <a:spcPts val="2640"/>
              </a:lnSpc>
            </a:pPr>
            <a:r>
              <a:rPr lang="en-US" sz="1500">
                <a:solidFill>
                  <a:srgbClr val="000000"/>
                </a:solidFill>
                <a:latin typeface="Poppins Light"/>
                <a:ea typeface="Poppins Light"/>
                <a:cs typeface="Poppins Light"/>
                <a:sym typeface="Poppins Light"/>
              </a:rPr>
              <a:t>Machine-powered analysis ensures consistent, error-free transaction processing at scale. Processing time is dramatically reduced while maintaining high accuracy standards throughout.</a:t>
            </a:r>
          </a:p>
        </p:txBody>
      </p:sp>
      <p:sp>
        <p:nvSpPr>
          <p:cNvPr id="11" name="TextBox 11"/>
          <p:cNvSpPr txBox="1"/>
          <p:nvPr/>
        </p:nvSpPr>
        <p:spPr>
          <a:xfrm>
            <a:off x="6595945"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Improved Accuracy &amp; Speed</a:t>
            </a:r>
          </a:p>
        </p:txBody>
      </p:sp>
      <p:sp>
        <p:nvSpPr>
          <p:cNvPr id="12" name="TextBox 12"/>
          <p:cNvSpPr txBox="1"/>
          <p:nvPr/>
        </p:nvSpPr>
        <p:spPr>
          <a:xfrm>
            <a:off x="12167692" y="6410642"/>
            <a:ext cx="5091608" cy="1322070"/>
          </a:xfrm>
          <a:prstGeom prst="rect">
            <a:avLst/>
          </a:prstGeom>
        </p:spPr>
        <p:txBody>
          <a:bodyPr lIns="0" tIns="0" rIns="0" bIns="0" rtlCol="0" anchor="t">
            <a:spAutoFit/>
          </a:bodyPr>
          <a:lstStyle/>
          <a:p>
            <a:pPr marL="0" lvl="0" indent="0" algn="ctr">
              <a:lnSpc>
                <a:spcPts val="2640"/>
              </a:lnSpc>
            </a:pPr>
            <a:r>
              <a:rPr lang="en-US" sz="1500">
                <a:solidFill>
                  <a:srgbClr val="000000"/>
                </a:solidFill>
                <a:latin typeface="Poppins Light"/>
                <a:ea typeface="Poppins Light"/>
                <a:cs typeface="Poppins Light"/>
                <a:sym typeface="Poppins Light"/>
              </a:rPr>
              <a:t>Suspicious and duplicate transactions are identified immediately through intelligent pattern recognition. The dashboard provides actionable financial insights and risk classifications for informed decision-making.</a:t>
            </a:r>
          </a:p>
        </p:txBody>
      </p:sp>
      <p:sp>
        <p:nvSpPr>
          <p:cNvPr id="13" name="TextBox 13"/>
          <p:cNvSpPr txBox="1"/>
          <p:nvPr/>
        </p:nvSpPr>
        <p:spPr>
          <a:xfrm>
            <a:off x="12167692" y="5819672"/>
            <a:ext cx="5091608" cy="385077"/>
          </a:xfrm>
          <a:prstGeom prst="rect">
            <a:avLst/>
          </a:prstGeom>
        </p:spPr>
        <p:txBody>
          <a:bodyPr lIns="0" tIns="0" rIns="0" bIns="0" rtlCol="0" anchor="t">
            <a:spAutoFit/>
          </a:bodyPr>
          <a:lstStyle/>
          <a:p>
            <a:pPr marL="0" lvl="0" indent="0" algn="ctr">
              <a:lnSpc>
                <a:spcPts val="2925"/>
              </a:lnSpc>
              <a:spcBef>
                <a:spcPct val="0"/>
              </a:spcBef>
            </a:pPr>
            <a:r>
              <a:rPr lang="en-US" sz="2089" b="1">
                <a:solidFill>
                  <a:srgbClr val="0C5BF5"/>
                </a:solidFill>
                <a:latin typeface="Poppins Medium"/>
                <a:ea typeface="Poppins Medium"/>
                <a:cs typeface="Poppins Medium"/>
                <a:sym typeface="Poppins Medium"/>
              </a:rPr>
              <a:t>Early Risk Detection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943" y="0"/>
            <a:ext cx="11528719" cy="10287000"/>
            <a:chOff x="0" y="0"/>
            <a:chExt cx="3036370" cy="2709333"/>
          </a:xfrm>
        </p:grpSpPr>
        <p:sp>
          <p:nvSpPr>
            <p:cNvPr id="3" name="Freeform 3"/>
            <p:cNvSpPr/>
            <p:nvPr/>
          </p:nvSpPr>
          <p:spPr>
            <a:xfrm>
              <a:off x="0" y="0"/>
              <a:ext cx="3036370" cy="2709333"/>
            </a:xfrm>
            <a:custGeom>
              <a:avLst/>
              <a:gdLst/>
              <a:ahLst/>
              <a:cxnLst/>
              <a:rect l="l" t="t" r="r" b="b"/>
              <a:pathLst>
                <a:path w="3036370" h="2709333">
                  <a:moveTo>
                    <a:pt x="0" y="0"/>
                  </a:moveTo>
                  <a:lnTo>
                    <a:pt x="3036370" y="0"/>
                  </a:lnTo>
                  <a:lnTo>
                    <a:pt x="3036370" y="2709333"/>
                  </a:lnTo>
                  <a:lnTo>
                    <a:pt x="0" y="2709333"/>
                  </a:lnTo>
                  <a:close/>
                </a:path>
              </a:pathLst>
            </a:custGeom>
            <a:solidFill>
              <a:srgbClr val="F1F6FF"/>
            </a:solidFill>
          </p:spPr>
        </p:sp>
        <p:sp>
          <p:nvSpPr>
            <p:cNvPr id="4" name="TextBox 4"/>
            <p:cNvSpPr txBox="1"/>
            <p:nvPr/>
          </p:nvSpPr>
          <p:spPr>
            <a:xfrm>
              <a:off x="0" y="-57150"/>
              <a:ext cx="3036370" cy="2766483"/>
            </a:xfrm>
            <a:prstGeom prst="rect">
              <a:avLst/>
            </a:prstGeom>
          </p:spPr>
          <p:txBody>
            <a:bodyPr lIns="50800" tIns="50800" rIns="50800" bIns="50800" rtlCol="0" anchor="ctr"/>
            <a:lstStyle/>
            <a:p>
              <a:pPr marL="0" lvl="0" indent="0" algn="ctr">
                <a:lnSpc>
                  <a:spcPts val="2940"/>
                </a:lnSpc>
              </a:pPr>
              <a:endParaRPr/>
            </a:p>
          </p:txBody>
        </p:sp>
      </p:grpSp>
      <p:grpSp>
        <p:nvGrpSpPr>
          <p:cNvPr id="5" name="Group 5"/>
          <p:cNvGrpSpPr/>
          <p:nvPr/>
        </p:nvGrpSpPr>
        <p:grpSpPr>
          <a:xfrm>
            <a:off x="11314473" y="3079059"/>
            <a:ext cx="6498608" cy="7818050"/>
            <a:chOff x="0" y="0"/>
            <a:chExt cx="1006804" cy="1211221"/>
          </a:xfrm>
        </p:grpSpPr>
        <p:sp>
          <p:nvSpPr>
            <p:cNvPr id="6" name="Freeform 6"/>
            <p:cNvSpPr/>
            <p:nvPr/>
          </p:nvSpPr>
          <p:spPr>
            <a:xfrm>
              <a:off x="0" y="0"/>
              <a:ext cx="1006804" cy="1211221"/>
            </a:xfrm>
            <a:custGeom>
              <a:avLst/>
              <a:gdLst/>
              <a:ahLst/>
              <a:cxnLst/>
              <a:rect l="l" t="t" r="r" b="b"/>
              <a:pathLst>
                <a:path w="1006804" h="1211221">
                  <a:moveTo>
                    <a:pt x="0" y="0"/>
                  </a:moveTo>
                  <a:lnTo>
                    <a:pt x="1006804" y="0"/>
                  </a:lnTo>
                  <a:lnTo>
                    <a:pt x="1006804" y="1211221"/>
                  </a:lnTo>
                  <a:lnTo>
                    <a:pt x="0" y="1211221"/>
                  </a:lnTo>
                  <a:close/>
                </a:path>
              </a:pathLst>
            </a:custGeom>
            <a:blipFill>
              <a:blip r:embed="rId2"/>
              <a:stretch>
                <a:fillRect t="-1389" b="-1389"/>
              </a:stretch>
            </a:blipFill>
          </p:spPr>
        </p:sp>
      </p:grpSp>
      <p:sp>
        <p:nvSpPr>
          <p:cNvPr id="7" name="Freeform 7"/>
          <p:cNvSpPr/>
          <p:nvPr/>
        </p:nvSpPr>
        <p:spPr>
          <a:xfrm>
            <a:off x="1078210" y="1087870"/>
            <a:ext cx="777570" cy="777570"/>
          </a:xfrm>
          <a:custGeom>
            <a:avLst/>
            <a:gdLst/>
            <a:ahLst/>
            <a:cxnLst/>
            <a:rect l="l" t="t" r="r" b="b"/>
            <a:pathLst>
              <a:path w="777570" h="777570">
                <a:moveTo>
                  <a:pt x="0" y="0"/>
                </a:moveTo>
                <a:lnTo>
                  <a:pt x="777570" y="0"/>
                </a:lnTo>
                <a:lnTo>
                  <a:pt x="777570" y="777570"/>
                </a:lnTo>
                <a:lnTo>
                  <a:pt x="0" y="777570"/>
                </a:lnTo>
                <a:lnTo>
                  <a:pt x="0" y="0"/>
                </a:lnTo>
                <a:close/>
              </a:path>
            </a:pathLst>
          </a:custGeom>
          <a:blipFill>
            <a:blip r:embed="rId3"/>
            <a:stretch>
              <a:fillRect/>
            </a:stretch>
          </a:blipFill>
        </p:spPr>
      </p:sp>
      <p:sp>
        <p:nvSpPr>
          <p:cNvPr id="8" name="Freeform 8"/>
          <p:cNvSpPr/>
          <p:nvPr/>
        </p:nvSpPr>
        <p:spPr>
          <a:xfrm>
            <a:off x="1028700" y="6972875"/>
            <a:ext cx="440620" cy="413381"/>
          </a:xfrm>
          <a:custGeom>
            <a:avLst/>
            <a:gdLst/>
            <a:ahLst/>
            <a:cxnLst/>
            <a:rect l="l" t="t" r="r" b="b"/>
            <a:pathLst>
              <a:path w="440620" h="413381">
                <a:moveTo>
                  <a:pt x="0" y="0"/>
                </a:moveTo>
                <a:lnTo>
                  <a:pt x="440620" y="0"/>
                </a:lnTo>
                <a:lnTo>
                  <a:pt x="440620" y="413381"/>
                </a:lnTo>
                <a:lnTo>
                  <a:pt x="0" y="41338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028700" y="8603532"/>
            <a:ext cx="526553" cy="517937"/>
          </a:xfrm>
          <a:custGeom>
            <a:avLst/>
            <a:gdLst/>
            <a:ahLst/>
            <a:cxnLst/>
            <a:rect l="l" t="t" r="r" b="b"/>
            <a:pathLst>
              <a:path w="526553" h="517937">
                <a:moveTo>
                  <a:pt x="0" y="0"/>
                </a:moveTo>
                <a:lnTo>
                  <a:pt x="526553" y="0"/>
                </a:lnTo>
                <a:lnTo>
                  <a:pt x="526553" y="517937"/>
                </a:lnTo>
                <a:lnTo>
                  <a:pt x="0" y="51793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28700" y="7723112"/>
            <a:ext cx="440620" cy="547045"/>
          </a:xfrm>
          <a:custGeom>
            <a:avLst/>
            <a:gdLst/>
            <a:ahLst/>
            <a:cxnLst/>
            <a:rect l="l" t="t" r="r" b="b"/>
            <a:pathLst>
              <a:path w="440620" h="547045">
                <a:moveTo>
                  <a:pt x="0" y="0"/>
                </a:moveTo>
                <a:lnTo>
                  <a:pt x="440620" y="0"/>
                </a:lnTo>
                <a:lnTo>
                  <a:pt x="440620" y="547045"/>
                </a:lnTo>
                <a:lnTo>
                  <a:pt x="0" y="54704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028700" y="3111499"/>
            <a:ext cx="7053481" cy="792453"/>
          </a:xfrm>
          <a:prstGeom prst="rect">
            <a:avLst/>
          </a:prstGeom>
        </p:spPr>
        <p:txBody>
          <a:bodyPr lIns="0" tIns="0" rIns="0" bIns="0" rtlCol="0" anchor="t">
            <a:spAutoFit/>
          </a:bodyPr>
          <a:lstStyle/>
          <a:p>
            <a:pPr marL="0" lvl="0" indent="0" algn="l">
              <a:lnSpc>
                <a:spcPts val="6196"/>
              </a:lnSpc>
            </a:pPr>
            <a:r>
              <a:rPr lang="en-US" sz="4426">
                <a:solidFill>
                  <a:srgbClr val="000000"/>
                </a:solidFill>
                <a:latin typeface="Poppins"/>
                <a:ea typeface="Poppins"/>
                <a:cs typeface="Poppins"/>
                <a:sym typeface="Poppins"/>
              </a:rPr>
              <a:t>Thank You</a:t>
            </a:r>
          </a:p>
        </p:txBody>
      </p:sp>
      <p:sp>
        <p:nvSpPr>
          <p:cNvPr id="12" name="TextBox 12"/>
          <p:cNvSpPr txBox="1"/>
          <p:nvPr/>
        </p:nvSpPr>
        <p:spPr>
          <a:xfrm>
            <a:off x="13142458" y="981075"/>
            <a:ext cx="4670623" cy="283574"/>
          </a:xfrm>
          <a:prstGeom prst="rect">
            <a:avLst/>
          </a:prstGeom>
        </p:spPr>
        <p:txBody>
          <a:bodyPr lIns="0" tIns="0" rIns="0" bIns="0" rtlCol="0" anchor="t">
            <a:spAutoFit/>
          </a:bodyPr>
          <a:lstStyle/>
          <a:p>
            <a:pPr marL="0" lvl="0" indent="0" algn="r">
              <a:lnSpc>
                <a:spcPts val="2219"/>
              </a:lnSpc>
            </a:pPr>
            <a:r>
              <a:rPr lang="en-US" sz="1585">
                <a:solidFill>
                  <a:srgbClr val="0C5BF5"/>
                </a:solidFill>
                <a:latin typeface="Poppins"/>
                <a:ea typeface="Poppins"/>
                <a:cs typeface="Poppins"/>
                <a:sym typeface="Poppins"/>
              </a:rPr>
              <a:t>AI Bookkeeping Dashboard</a:t>
            </a:r>
          </a:p>
        </p:txBody>
      </p:sp>
      <p:sp>
        <p:nvSpPr>
          <p:cNvPr id="13" name="TextBox 13"/>
          <p:cNvSpPr txBox="1"/>
          <p:nvPr/>
        </p:nvSpPr>
        <p:spPr>
          <a:xfrm>
            <a:off x="1028700" y="4468493"/>
            <a:ext cx="8782050" cy="1025362"/>
          </a:xfrm>
          <a:prstGeom prst="rect">
            <a:avLst/>
          </a:prstGeom>
        </p:spPr>
        <p:txBody>
          <a:bodyPr lIns="0" tIns="0" rIns="0" bIns="0" rtlCol="0" anchor="t">
            <a:spAutoFit/>
          </a:bodyPr>
          <a:lstStyle/>
          <a:p>
            <a:pPr marL="0" lvl="0" indent="0" algn="l">
              <a:lnSpc>
                <a:spcPts val="8001"/>
              </a:lnSpc>
            </a:pPr>
            <a:r>
              <a:rPr lang="en-US" sz="5715" b="1">
                <a:solidFill>
                  <a:srgbClr val="0C5BF5"/>
                </a:solidFill>
                <a:latin typeface="Poppins Bold"/>
                <a:ea typeface="Poppins Bold"/>
                <a:cs typeface="Poppins Bold"/>
                <a:sym typeface="Poppins Bold"/>
              </a:rPr>
              <a:t>Questions &amp; Discussion</a:t>
            </a:r>
          </a:p>
        </p:txBody>
      </p:sp>
      <p:sp>
        <p:nvSpPr>
          <p:cNvPr id="14" name="TextBox 14"/>
          <p:cNvSpPr txBox="1"/>
          <p:nvPr/>
        </p:nvSpPr>
        <p:spPr>
          <a:xfrm>
            <a:off x="1703178" y="6934775"/>
            <a:ext cx="6750479" cy="213596"/>
          </a:xfrm>
          <a:prstGeom prst="rect">
            <a:avLst/>
          </a:prstGeom>
        </p:spPr>
        <p:txBody>
          <a:bodyPr lIns="0" tIns="0" rIns="0" bIns="0" rtlCol="0" anchor="t">
            <a:spAutoFit/>
          </a:bodyPr>
          <a:lstStyle/>
          <a:p>
            <a:pPr marL="0" lvl="0" indent="0" algn="l">
              <a:lnSpc>
                <a:spcPts val="1702"/>
              </a:lnSpc>
              <a:spcBef>
                <a:spcPct val="0"/>
              </a:spcBef>
            </a:pPr>
            <a:r>
              <a:rPr lang="en-US" sz="1216">
                <a:solidFill>
                  <a:srgbClr val="000000"/>
                </a:solidFill>
                <a:latin typeface="Poppins"/>
                <a:ea typeface="Poppins"/>
                <a:cs typeface="Poppins"/>
                <a:sym typeface="Poppins"/>
              </a:rPr>
              <a:t>Pavan Sai - B.E. CSE (AI &amp; DS)</a:t>
            </a:r>
          </a:p>
        </p:txBody>
      </p:sp>
      <p:sp>
        <p:nvSpPr>
          <p:cNvPr id="15" name="TextBox 15"/>
          <p:cNvSpPr txBox="1"/>
          <p:nvPr/>
        </p:nvSpPr>
        <p:spPr>
          <a:xfrm>
            <a:off x="1703178" y="7767053"/>
            <a:ext cx="6750479" cy="213596"/>
          </a:xfrm>
          <a:prstGeom prst="rect">
            <a:avLst/>
          </a:prstGeom>
        </p:spPr>
        <p:txBody>
          <a:bodyPr lIns="0" tIns="0" rIns="0" bIns="0" rtlCol="0" anchor="t">
            <a:spAutoFit/>
          </a:bodyPr>
          <a:lstStyle/>
          <a:p>
            <a:pPr marL="0" lvl="0" indent="0" algn="l">
              <a:lnSpc>
                <a:spcPts val="1702"/>
              </a:lnSpc>
              <a:spcBef>
                <a:spcPct val="0"/>
              </a:spcBef>
            </a:pPr>
            <a:r>
              <a:rPr lang="en-US" sz="1216">
                <a:solidFill>
                  <a:srgbClr val="000000"/>
                </a:solidFill>
                <a:latin typeface="Poppins"/>
                <a:ea typeface="Poppins"/>
                <a:cs typeface="Poppins"/>
                <a:sym typeface="Poppins"/>
              </a:rPr>
              <a:t>Student Hackathon Project 2024</a:t>
            </a:r>
          </a:p>
        </p:txBody>
      </p:sp>
      <p:sp>
        <p:nvSpPr>
          <p:cNvPr id="16" name="TextBox 16"/>
          <p:cNvSpPr txBox="1"/>
          <p:nvPr/>
        </p:nvSpPr>
        <p:spPr>
          <a:xfrm>
            <a:off x="1703178" y="8632919"/>
            <a:ext cx="6750479" cy="213596"/>
          </a:xfrm>
          <a:prstGeom prst="rect">
            <a:avLst/>
          </a:prstGeom>
        </p:spPr>
        <p:txBody>
          <a:bodyPr lIns="0" tIns="0" rIns="0" bIns="0" rtlCol="0" anchor="t">
            <a:spAutoFit/>
          </a:bodyPr>
          <a:lstStyle/>
          <a:p>
            <a:pPr marL="0" lvl="0" indent="0" algn="l">
              <a:lnSpc>
                <a:spcPts val="1702"/>
              </a:lnSpc>
              <a:spcBef>
                <a:spcPct val="0"/>
              </a:spcBef>
            </a:pPr>
            <a:r>
              <a:rPr lang="en-US" sz="1216">
                <a:solidFill>
                  <a:srgbClr val="000000"/>
                </a:solidFill>
                <a:latin typeface="Poppins"/>
                <a:ea typeface="Poppins"/>
                <a:cs typeface="Poppins"/>
                <a:sym typeface="Poppins"/>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804</Words>
  <Application>Microsoft Office PowerPoint</Application>
  <PresentationFormat>Custom</PresentationFormat>
  <Paragraphs>84</Paragraphs>
  <Slides>12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Poppins</vt:lpstr>
      <vt:lpstr>Poppins Bold</vt:lpstr>
      <vt:lpstr>Aptos</vt:lpstr>
      <vt:lpstr>Calibri</vt:lpstr>
      <vt:lpstr>Poppins Italics</vt:lpstr>
      <vt:lpstr>Poppins Semi-Bold</vt:lpstr>
      <vt:lpstr>Poppins Light</vt:lpstr>
      <vt:lpstr>Arial</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Bookkeeping Dashboard Overview</dc:title>
  <cp:lastModifiedBy>Pavanasai Duvvuri</cp:lastModifiedBy>
  <cp:revision>1</cp:revision>
  <dcterms:created xsi:type="dcterms:W3CDTF">2006-08-16T00:00:00Z</dcterms:created>
  <dcterms:modified xsi:type="dcterms:W3CDTF">2026-05-30T11:55:16Z</dcterms:modified>
  <dc:identifier>DAHLI9ioahE</dc:identifier>
</cp:coreProperties>
</file>